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del guion: identificación. Mostrar documento de identidad estudiantil en cámara antes de compartir esta diapositiva o al inicio de la grabación.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del guion: introducción del proyecto y problema que resuelve InvBot.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brevemente al usuario objetivo de InvBot.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8 categorías de preguntas frecuentes que InvBot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simplificada del diagrama de flujo Mermaid del informe técnico, sección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no negociables, tono y extracción de entidades del prompt de sistema, informe técnico sección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Esquema SQL completo en informe técnico sección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diagrama que se explica en el bloque de defensa de código (módulo crítico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 técnico sección 7: seguridad, pruebas y estrategia de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del guion: reflexión final, en cámara.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141B4D"/>
          </a:solidFill>
          <a:ln/>
        </p:spPr>
      </p:sp>
      <p:sp>
        <p:nvSpPr>
          <p:cNvPr id="3" name="Shape 1"/>
          <p:cNvSpPr/>
          <p:nvPr/>
        </p:nvSpPr>
        <p:spPr>
          <a:xfrm>
            <a:off x="-1463040" y="4754880"/>
            <a:ext cx="3840480" cy="3840480"/>
          </a:xfrm>
          <a:prstGeom prst="ellipse">
            <a:avLst/>
          </a:prstGeom>
          <a:solidFill>
            <a:srgbClr val="141B4D"/>
          </a:solidFill>
          <a:ln/>
        </p:spPr>
      </p:sp>
      <p:sp>
        <p:nvSpPr>
          <p:cNvPr id="4" name="Text 2"/>
          <p:cNvSpPr/>
          <p:nvPr/>
        </p:nvSpPr>
        <p:spPr>
          <a:xfrm>
            <a:off x="822960" y="1417320"/>
            <a:ext cx="7315200" cy="365760"/>
          </a:xfrm>
          <a:prstGeom prst="rect">
            <a:avLst/>
          </a:prstGeom>
          <a:noFill/>
          <a:ln/>
        </p:spPr>
        <p:txBody>
          <a:bodyPr wrap="square" rtlCol="0" anchor="ctr"/>
          <a:lstStyle/>
          <a:p>
            <a:pPr indent="0" marL="0">
              <a:buNone/>
            </a:pPr>
            <a:r>
              <a:rPr lang="en-US" sz="1400" b="1" spc="200" kern="0" dirty="0">
                <a:solidFill>
                  <a:srgbClr val="D9A441"/>
                </a:solidFill>
                <a:latin typeface="Calibri" pitchFamily="34" charset="0"/>
                <a:ea typeface="Calibri" pitchFamily="34" charset="-122"/>
                <a:cs typeface="Calibri" pitchFamily="34" charset="-120"/>
              </a:rPr>
              <a:t>MERCADO BURSÁTIL · CASA DE BOLSA</a:t>
            </a:r>
            <a:endParaRPr lang="en-US" sz="1400" dirty="0"/>
          </a:p>
        </p:txBody>
      </p:sp>
      <p:sp>
        <p:nvSpPr>
          <p:cNvPr id="5" name="Text 3"/>
          <p:cNvSpPr/>
          <p:nvPr/>
        </p:nvSpPr>
        <p:spPr>
          <a:xfrm>
            <a:off x="777240" y="1828800"/>
            <a:ext cx="8686800" cy="137160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InvBot</a:t>
            </a:r>
            <a:endParaRPr lang="en-US" sz="6400" dirty="0"/>
          </a:p>
        </p:txBody>
      </p:sp>
      <p:sp>
        <p:nvSpPr>
          <p:cNvPr id="6" name="Text 4"/>
          <p:cNvSpPr/>
          <p:nvPr/>
        </p:nvSpPr>
        <p:spPr>
          <a:xfrm>
            <a:off x="822960" y="3063240"/>
            <a:ext cx="8229600" cy="64008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Asistente conversacional de soporte al inversionista activo</a:t>
            </a:r>
            <a:endParaRPr lang="en-US" sz="2000" dirty="0"/>
          </a:p>
        </p:txBody>
      </p:sp>
      <p:sp>
        <p:nvSpPr>
          <p:cNvPr id="7" name="Shape 5"/>
          <p:cNvSpPr/>
          <p:nvPr/>
        </p:nvSpPr>
        <p:spPr>
          <a:xfrm>
            <a:off x="822960" y="3977640"/>
            <a:ext cx="2926080" cy="0"/>
          </a:xfrm>
          <a:prstGeom prst="line">
            <a:avLst/>
          </a:prstGeom>
          <a:noFill/>
          <a:ln w="25400">
            <a:solidFill>
              <a:srgbClr val="D9A441"/>
            </a:solidFill>
            <a:prstDash val="solid"/>
          </a:ln>
        </p:spPr>
      </p:sp>
      <p:sp>
        <p:nvSpPr>
          <p:cNvPr id="8" name="Text 6"/>
          <p:cNvSpPr/>
          <p:nvPr/>
        </p:nvSpPr>
        <p:spPr>
          <a:xfrm>
            <a:off x="822960" y="4160520"/>
            <a:ext cx="7315200" cy="1188720"/>
          </a:xfrm>
          <a:prstGeom prst="rect">
            <a:avLst/>
          </a:prstGeom>
          <a:noFill/>
          <a:ln/>
        </p:spPr>
        <p:txBody>
          <a:bodyPr wrap="square" rtlCol="0" anchor="ctr"/>
          <a:lstStyle/>
          <a:p>
            <a:pPr indent="0" marL="0">
              <a:lnSpc>
                <a:spcPts val="1900"/>
              </a:lnSpc>
              <a:buNone/>
            </a:pPr>
            <a:r>
              <a:rPr lang="en-US" sz="1600" b="1" dirty="0">
                <a:solidFill>
                  <a:srgbClr val="FFFFFF"/>
                </a:solidFill>
                <a:latin typeface="Calibri" pitchFamily="34" charset="0"/>
                <a:ea typeface="Calibri" pitchFamily="34" charset="-122"/>
                <a:cs typeface="Calibri" pitchFamily="34" charset="-120"/>
              </a:rPr>
              <a:t>Abel Sánchez
</a:t>
            </a:r>
            <a:pPr indent="0" marL="0">
              <a:lnSpc>
                <a:spcPts val="1900"/>
              </a:lnSpc>
              <a:buNone/>
            </a:pPr>
            <a:r>
              <a:rPr lang="en-US" sz="1300" dirty="0">
                <a:solidFill>
                  <a:srgbClr val="CADCFC"/>
                </a:solidFill>
                <a:latin typeface="Calibri" pitchFamily="34" charset="0"/>
                <a:ea typeface="Calibri" pitchFamily="34" charset="-122"/>
                <a:cs typeface="Calibri" pitchFamily="34" charset="-120"/>
              </a:rPr>
              <a:t>Maestría en Inteligencia de Negocios y Ciencia de Datos</a:t>
            </a:r>
            <a:endParaRPr lang="en-US" sz="1600" dirty="0"/>
          </a:p>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Inteligencia Artificial · Prof. Juan Simón Isidro</a:t>
            </a:r>
            <a:endParaRPr lang="en-US" sz="1600" dirty="0"/>
          </a:p>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Agosto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EL PROBLEMA</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Consultas repetitivas, cero trazabilidad</a:t>
            </a:r>
            <a:endParaRPr lang="en-US" sz="3200" dirty="0"/>
          </a:p>
        </p:txBody>
      </p:sp>
      <p:sp>
        <p:nvSpPr>
          <p:cNvPr id="4" name="Shape 2"/>
          <p:cNvSpPr/>
          <p:nvPr/>
        </p:nvSpPr>
        <p:spPr>
          <a:xfrm>
            <a:off x="548640" y="1920240"/>
            <a:ext cx="3520440" cy="2103120"/>
          </a:xfrm>
          <a:prstGeom prst="roundRect">
            <a:avLst>
              <a:gd name="adj" fmla="val 5217"/>
            </a:avLst>
          </a:prstGeom>
          <a:solidFill>
            <a:srgbClr val="FFFFFF"/>
          </a:solidFill>
          <a:ln w="12700">
            <a:solidFill>
              <a:srgbClr val="CADCFC"/>
            </a:solidFill>
            <a:prstDash val="solid"/>
          </a:ln>
          <a:effectLst>
            <a:outerShdw sx="100000" sy="100000" kx="0" ky="0" algn="bl" rotWithShape="0" blurRad="101600" dist="38100" dir="5400000">
              <a:srgbClr val="1E2761">
                <a:alpha val="15000"/>
              </a:srgbClr>
            </a:outerShdw>
          </a:effectLst>
        </p:spPr>
      </p:sp>
      <p:sp>
        <p:nvSpPr>
          <p:cNvPr id="5" name="Text 3"/>
          <p:cNvSpPr txBox="1"/>
          <p:nvPr/>
        </p:nvSpPr>
        <p:spPr>
          <a:xfrm>
            <a:off x="777240" y="2103120"/>
            <a:ext cx="3063240" cy="822960"/>
          </a:xfrm>
          <a:prstGeom prst="rect">
            <a:avLst/>
          </a:prstGeom>
          <a:noFill/>
          <a:ln/>
        </p:spPr>
        <p:txBody>
          <a:bodyPr wrap="square"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24/7</a:t>
            </a:r>
            <a:endParaRPr lang="en-US" sz="4000" dirty="0"/>
          </a:p>
        </p:txBody>
      </p:sp>
      <p:sp>
        <p:nvSpPr>
          <p:cNvPr id="6" name="Text 4"/>
          <p:cNvSpPr txBox="1"/>
          <p:nvPr/>
        </p:nvSpPr>
        <p:spPr>
          <a:xfrm>
            <a:off x="777240" y="2880360"/>
            <a:ext cx="3108960" cy="1005840"/>
          </a:xfrm>
          <a:prstGeom prst="rect">
            <a:avLst/>
          </a:prstGeom>
          <a:noFill/>
          <a:ln/>
        </p:spPr>
        <p:txBody>
          <a:bodyPr wrap="square" rtlCol="0" anchor="ctr"/>
          <a:lstStyle/>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Los inversionistas necesitan</a:t>
            </a:r>
            <a:endParaRPr lang="en-US" sz="1300" dirty="0"/>
          </a:p>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respuestas fuera de horario</a:t>
            </a:r>
            <a:endParaRPr lang="en-US" sz="1300" dirty="0"/>
          </a:p>
        </p:txBody>
      </p:sp>
      <p:sp>
        <p:nvSpPr>
          <p:cNvPr id="7" name="Shape 5"/>
          <p:cNvSpPr/>
          <p:nvPr/>
        </p:nvSpPr>
        <p:spPr>
          <a:xfrm>
            <a:off x="4343400" y="1920240"/>
            <a:ext cx="3520440" cy="2103120"/>
          </a:xfrm>
          <a:prstGeom prst="roundRect">
            <a:avLst>
              <a:gd name="adj" fmla="val 5217"/>
            </a:avLst>
          </a:prstGeom>
          <a:solidFill>
            <a:srgbClr val="FFFFFF"/>
          </a:solidFill>
          <a:ln w="12700">
            <a:solidFill>
              <a:srgbClr val="CADCFC"/>
            </a:solidFill>
            <a:prstDash val="solid"/>
          </a:ln>
          <a:effectLst>
            <a:outerShdw sx="100000" sy="100000" kx="0" ky="0" algn="bl" rotWithShape="0" blurRad="101600" dist="38100" dir="5400000">
              <a:srgbClr val="1E2761">
                <a:alpha val="15000"/>
              </a:srgbClr>
            </a:outerShdw>
          </a:effectLst>
        </p:spPr>
      </p:sp>
      <p:sp>
        <p:nvSpPr>
          <p:cNvPr id="8" name="Text 6"/>
          <p:cNvSpPr txBox="1"/>
          <p:nvPr/>
        </p:nvSpPr>
        <p:spPr>
          <a:xfrm>
            <a:off x="4572000" y="2103120"/>
            <a:ext cx="3063240" cy="822960"/>
          </a:xfrm>
          <a:prstGeom prst="rect">
            <a:avLst/>
          </a:prstGeom>
          <a:noFill/>
          <a:ln/>
        </p:spPr>
        <p:txBody>
          <a:bodyPr wrap="square"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0</a:t>
            </a:r>
            <a:endParaRPr lang="en-US" sz="4000" dirty="0"/>
          </a:p>
        </p:txBody>
      </p:sp>
      <p:sp>
        <p:nvSpPr>
          <p:cNvPr id="9" name="Text 7"/>
          <p:cNvSpPr txBox="1"/>
          <p:nvPr/>
        </p:nvSpPr>
        <p:spPr>
          <a:xfrm>
            <a:off x="4572000" y="2880360"/>
            <a:ext cx="3108960" cy="1005840"/>
          </a:xfrm>
          <a:prstGeom prst="rect">
            <a:avLst/>
          </a:prstGeom>
          <a:noFill/>
          <a:ln/>
        </p:spPr>
        <p:txBody>
          <a:bodyPr wrap="square" rtlCol="0" anchor="ctr"/>
          <a:lstStyle/>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Trazabilidad de reclamos</a:t>
            </a:r>
            <a:endParaRPr lang="en-US" sz="1300" dirty="0"/>
          </a:p>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en el proceso actual</a:t>
            </a:r>
            <a:endParaRPr lang="en-US" sz="1300" dirty="0"/>
          </a:p>
        </p:txBody>
      </p:sp>
      <p:sp>
        <p:nvSpPr>
          <p:cNvPr id="10" name="Shape 8"/>
          <p:cNvSpPr/>
          <p:nvPr/>
        </p:nvSpPr>
        <p:spPr>
          <a:xfrm>
            <a:off x="8138160" y="1920240"/>
            <a:ext cx="3520440" cy="2103120"/>
          </a:xfrm>
          <a:prstGeom prst="roundRect">
            <a:avLst>
              <a:gd name="adj" fmla="val 5217"/>
            </a:avLst>
          </a:prstGeom>
          <a:solidFill>
            <a:srgbClr val="FFFFFF"/>
          </a:solidFill>
          <a:ln w="12700">
            <a:solidFill>
              <a:srgbClr val="CADCFC"/>
            </a:solidFill>
            <a:prstDash val="solid"/>
          </a:ln>
          <a:effectLst>
            <a:outerShdw sx="100000" sy="100000" kx="0" ky="0" algn="bl" rotWithShape="0" blurRad="101600" dist="38100" dir="5400000">
              <a:srgbClr val="1E2761">
                <a:alpha val="15000"/>
              </a:srgbClr>
            </a:outerShdw>
          </a:effectLst>
        </p:spPr>
      </p:sp>
      <p:sp>
        <p:nvSpPr>
          <p:cNvPr id="11" name="Text 9"/>
          <p:cNvSpPr txBox="1"/>
          <p:nvPr/>
        </p:nvSpPr>
        <p:spPr>
          <a:xfrm>
            <a:off x="8366760" y="2103120"/>
            <a:ext cx="3063240" cy="822960"/>
          </a:xfrm>
          <a:prstGeom prst="rect">
            <a:avLst/>
          </a:prstGeom>
          <a:noFill/>
          <a:ln/>
        </p:spPr>
        <p:txBody>
          <a:bodyPr wrap="square"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100%</a:t>
            </a:r>
            <a:endParaRPr lang="en-US" sz="4000" dirty="0"/>
          </a:p>
        </p:txBody>
      </p:sp>
      <p:sp>
        <p:nvSpPr>
          <p:cNvPr id="12" name="Text 10"/>
          <p:cNvSpPr txBox="1"/>
          <p:nvPr/>
        </p:nvSpPr>
        <p:spPr>
          <a:xfrm>
            <a:off x="8366760" y="2880360"/>
            <a:ext cx="3108960" cy="1005840"/>
          </a:xfrm>
          <a:prstGeom prst="rect">
            <a:avLst/>
          </a:prstGeom>
          <a:noFill/>
          <a:ln/>
        </p:spPr>
        <p:txBody>
          <a:bodyPr wrap="square" rtlCol="0" anchor="ctr"/>
          <a:lstStyle/>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De las consultas de saldo/orden</a:t>
            </a:r>
            <a:endParaRPr lang="en-US" sz="1300" dirty="0"/>
          </a:p>
          <a:p>
            <a:pPr indent="0" marL="0">
              <a:lnSpc>
                <a:spcPts val="1600"/>
              </a:lnSpc>
              <a:buNone/>
            </a:pPr>
            <a:r>
              <a:rPr lang="en-US" sz="1300" dirty="0">
                <a:solidFill>
                  <a:srgbClr val="5B6685"/>
                </a:solidFill>
                <a:latin typeface="Calibri" pitchFamily="34" charset="0"/>
                <a:ea typeface="Calibri" pitchFamily="34" charset="-122"/>
                <a:cs typeface="Calibri" pitchFamily="34" charset="-120"/>
              </a:rPr>
              <a:t>no requieren criterio humano</a:t>
            </a:r>
            <a:endParaRPr lang="en-US" sz="1300" dirty="0"/>
          </a:p>
        </p:txBody>
      </p:sp>
      <p:sp>
        <p:nvSpPr>
          <p:cNvPr id="13" name="Shape 11"/>
          <p:cNvSpPr/>
          <p:nvPr/>
        </p:nvSpPr>
        <p:spPr>
          <a:xfrm>
            <a:off x="548640" y="4343400"/>
            <a:ext cx="11091672" cy="1737360"/>
          </a:xfrm>
          <a:prstGeom prst="roundRect">
            <a:avLst>
              <a:gd name="adj" fmla="val 6316"/>
            </a:avLst>
          </a:prstGeom>
          <a:solidFill>
            <a:srgbClr val="1E2761"/>
          </a:solidFill>
          <a:ln/>
        </p:spPr>
      </p:sp>
      <p:sp>
        <p:nvSpPr>
          <p:cNvPr id="14" name="Text 12"/>
          <p:cNvSpPr/>
          <p:nvPr/>
        </p:nvSpPr>
        <p:spPr>
          <a:xfrm>
            <a:off x="914400" y="4553712"/>
            <a:ext cx="4572000" cy="32004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OBJETIVO GENERAL</a:t>
            </a:r>
            <a:endParaRPr lang="en-US" sz="1200" dirty="0"/>
          </a:p>
        </p:txBody>
      </p:sp>
      <p:sp>
        <p:nvSpPr>
          <p:cNvPr id="15" name="Text 13"/>
          <p:cNvSpPr txBox="1"/>
          <p:nvPr/>
        </p:nvSpPr>
        <p:spPr>
          <a:xfrm>
            <a:off x="914400" y="4892040"/>
            <a:ext cx="10332720" cy="1051560"/>
          </a:xfrm>
          <a:prstGeom prst="rect">
            <a:avLst/>
          </a:prstGeom>
          <a:noFill/>
          <a:ln/>
        </p:spPr>
        <p:txBody>
          <a:bodyPr wrap="square"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Diseñar y prototipar un asistente conversacional que resuelva consultas frecuentes de inversionistas activos y registre automáticamente sus solicitudes e incidencias en una base de datos relacional en tiempo real.</a:t>
            </a:r>
            <a:endParaRPr lang="en-US" sz="1500" dirty="0"/>
          </a:p>
        </p:txBody>
      </p:sp>
      <p:sp>
        <p:nvSpPr>
          <p:cNvPr id="16" name="Text 1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1 · DOMINIO PROFESIONAL</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Perfil del usuario objetivo</a:t>
            </a:r>
            <a:endParaRPr lang="en-US" sz="3200" dirty="0"/>
          </a:p>
        </p:txBody>
      </p:sp>
      <p:sp>
        <p:nvSpPr>
          <p:cNvPr id="4" name="Shape 2"/>
          <p:cNvSpPr/>
          <p:nvPr/>
        </p:nvSpPr>
        <p:spPr>
          <a:xfrm>
            <a:off x="548640" y="1920240"/>
            <a:ext cx="256032" cy="256032"/>
          </a:xfrm>
          <a:prstGeom prst="ellipse">
            <a:avLst/>
          </a:prstGeom>
          <a:solidFill>
            <a:srgbClr val="D9A441"/>
          </a:solidFill>
          <a:ln/>
        </p:spPr>
      </p:sp>
      <p:sp>
        <p:nvSpPr>
          <p:cNvPr id="5" name="Text 3"/>
          <p:cNvSpPr txBox="1"/>
          <p:nvPr/>
        </p:nvSpPr>
        <p:spPr>
          <a:xfrm>
            <a:off x="1051560" y="1828800"/>
            <a:ext cx="2743200"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Rol</a:t>
            </a:r>
            <a:endParaRPr lang="en-US" sz="1400" dirty="0"/>
          </a:p>
        </p:txBody>
      </p:sp>
      <p:sp>
        <p:nvSpPr>
          <p:cNvPr id="6" name="Text 4"/>
          <p:cNvSpPr txBox="1"/>
          <p:nvPr/>
        </p:nvSpPr>
        <p:spPr>
          <a:xfrm>
            <a:off x="3794760" y="1828800"/>
            <a:ext cx="7680960" cy="457200"/>
          </a:xfrm>
          <a:prstGeom prst="rect">
            <a:avLst/>
          </a:prstGeom>
          <a:noFill/>
          <a:ln/>
        </p:spPr>
        <p:txBody>
          <a:bodyPr wrap="square" rtlCol="0" anchor="ctr"/>
          <a:lstStyle/>
          <a:p>
            <a:pPr indent="0" marL="0">
              <a:buNone/>
            </a:pPr>
            <a:r>
              <a:rPr lang="en-US" sz="1400" dirty="0">
                <a:solidFill>
                  <a:srgbClr val="5B6685"/>
                </a:solidFill>
                <a:latin typeface="Calibri" pitchFamily="34" charset="0"/>
                <a:ea typeface="Calibri" pitchFamily="34" charset="-122"/>
                <a:cs typeface="Calibri" pitchFamily="34" charset="-120"/>
              </a:rPr>
              <a:t>Inversionista retail activo con cuenta abierta en Andes Valores S.A.</a:t>
            </a:r>
            <a:endParaRPr lang="en-US" sz="1400" dirty="0"/>
          </a:p>
        </p:txBody>
      </p:sp>
      <p:sp>
        <p:nvSpPr>
          <p:cNvPr id="7" name="Shape 5"/>
          <p:cNvSpPr/>
          <p:nvPr/>
        </p:nvSpPr>
        <p:spPr>
          <a:xfrm>
            <a:off x="548640" y="2441448"/>
            <a:ext cx="10881360" cy="0"/>
          </a:xfrm>
          <a:prstGeom prst="line">
            <a:avLst/>
          </a:prstGeom>
          <a:noFill/>
          <a:ln w="12700">
            <a:solidFill>
              <a:srgbClr val="CADCFC"/>
            </a:solidFill>
            <a:prstDash val="solid"/>
          </a:ln>
        </p:spPr>
      </p:sp>
      <p:sp>
        <p:nvSpPr>
          <p:cNvPr id="8" name="Shape 6"/>
          <p:cNvSpPr/>
          <p:nvPr/>
        </p:nvSpPr>
        <p:spPr>
          <a:xfrm>
            <a:off x="548640" y="2761488"/>
            <a:ext cx="256032" cy="256032"/>
          </a:xfrm>
          <a:prstGeom prst="ellipse">
            <a:avLst/>
          </a:prstGeom>
          <a:solidFill>
            <a:srgbClr val="D9A441"/>
          </a:solidFill>
          <a:ln/>
        </p:spPr>
      </p:sp>
      <p:sp>
        <p:nvSpPr>
          <p:cNvPr id="9" name="Text 7"/>
          <p:cNvSpPr txBox="1"/>
          <p:nvPr/>
        </p:nvSpPr>
        <p:spPr>
          <a:xfrm>
            <a:off x="1051560" y="2670048"/>
            <a:ext cx="2743200"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Edad</a:t>
            </a:r>
            <a:endParaRPr lang="en-US" sz="1400" dirty="0"/>
          </a:p>
        </p:txBody>
      </p:sp>
      <p:sp>
        <p:nvSpPr>
          <p:cNvPr id="10" name="Text 8"/>
          <p:cNvSpPr txBox="1"/>
          <p:nvPr/>
        </p:nvSpPr>
        <p:spPr>
          <a:xfrm>
            <a:off x="3794760" y="2670048"/>
            <a:ext cx="7680960" cy="457200"/>
          </a:xfrm>
          <a:prstGeom prst="rect">
            <a:avLst/>
          </a:prstGeom>
          <a:noFill/>
          <a:ln/>
        </p:spPr>
        <p:txBody>
          <a:bodyPr wrap="square" rtlCol="0" anchor="ctr"/>
          <a:lstStyle/>
          <a:p>
            <a:pPr indent="0" marL="0">
              <a:buNone/>
            </a:pPr>
            <a:r>
              <a:rPr lang="en-US" sz="1400" dirty="0">
                <a:solidFill>
                  <a:srgbClr val="5B6685"/>
                </a:solidFill>
                <a:latin typeface="Calibri" pitchFamily="34" charset="0"/>
                <a:ea typeface="Calibri" pitchFamily="34" charset="-122"/>
                <a:cs typeface="Calibri" pitchFamily="34" charset="-120"/>
              </a:rPr>
              <a:t>28–55 años, perfil de riesgo conservador, moderado o agresivo</a:t>
            </a:r>
            <a:endParaRPr lang="en-US" sz="1400" dirty="0"/>
          </a:p>
        </p:txBody>
      </p:sp>
      <p:sp>
        <p:nvSpPr>
          <p:cNvPr id="11" name="Shape 9"/>
          <p:cNvSpPr/>
          <p:nvPr/>
        </p:nvSpPr>
        <p:spPr>
          <a:xfrm>
            <a:off x="548640" y="3282696"/>
            <a:ext cx="10881360" cy="0"/>
          </a:xfrm>
          <a:prstGeom prst="line">
            <a:avLst/>
          </a:prstGeom>
          <a:noFill/>
          <a:ln w="12700">
            <a:solidFill>
              <a:srgbClr val="CADCFC"/>
            </a:solidFill>
            <a:prstDash val="solid"/>
          </a:ln>
        </p:spPr>
      </p:sp>
      <p:sp>
        <p:nvSpPr>
          <p:cNvPr id="12" name="Shape 10"/>
          <p:cNvSpPr/>
          <p:nvPr/>
        </p:nvSpPr>
        <p:spPr>
          <a:xfrm>
            <a:off x="548640" y="3602736"/>
            <a:ext cx="256032" cy="256032"/>
          </a:xfrm>
          <a:prstGeom prst="ellipse">
            <a:avLst/>
          </a:prstGeom>
          <a:solidFill>
            <a:srgbClr val="D9A441"/>
          </a:solidFill>
          <a:ln/>
        </p:spPr>
      </p:sp>
      <p:sp>
        <p:nvSpPr>
          <p:cNvPr id="13" name="Text 11"/>
          <p:cNvSpPr txBox="1"/>
          <p:nvPr/>
        </p:nvSpPr>
        <p:spPr>
          <a:xfrm>
            <a:off x="1051560" y="3511296"/>
            <a:ext cx="2743200"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Canal habitual</a:t>
            </a:r>
            <a:endParaRPr lang="en-US" sz="1400" dirty="0"/>
          </a:p>
        </p:txBody>
      </p:sp>
      <p:sp>
        <p:nvSpPr>
          <p:cNvPr id="14" name="Text 12"/>
          <p:cNvSpPr txBox="1"/>
          <p:nvPr/>
        </p:nvSpPr>
        <p:spPr>
          <a:xfrm>
            <a:off x="3794760" y="3511296"/>
            <a:ext cx="7680960" cy="457200"/>
          </a:xfrm>
          <a:prstGeom prst="rect">
            <a:avLst/>
          </a:prstGeom>
          <a:noFill/>
          <a:ln/>
        </p:spPr>
        <p:txBody>
          <a:bodyPr wrap="square" rtlCol="0" anchor="ctr"/>
          <a:lstStyle/>
          <a:p>
            <a:pPr indent="0" marL="0">
              <a:buNone/>
            </a:pPr>
            <a:r>
              <a:rPr lang="en-US" sz="1400" dirty="0">
                <a:solidFill>
                  <a:srgbClr val="5B6685"/>
                </a:solidFill>
                <a:latin typeface="Calibri" pitchFamily="34" charset="0"/>
                <a:ea typeface="Calibri" pitchFamily="34" charset="-122"/>
                <a:cs typeface="Calibri" pitchFamily="34" charset="-120"/>
              </a:rPr>
              <a:t>App / portal de trading, WhatsApp Business, chat web</a:t>
            </a:r>
            <a:endParaRPr lang="en-US" sz="1400" dirty="0"/>
          </a:p>
        </p:txBody>
      </p:sp>
      <p:sp>
        <p:nvSpPr>
          <p:cNvPr id="15" name="Shape 13"/>
          <p:cNvSpPr/>
          <p:nvPr/>
        </p:nvSpPr>
        <p:spPr>
          <a:xfrm>
            <a:off x="548640" y="4123944"/>
            <a:ext cx="10881360" cy="0"/>
          </a:xfrm>
          <a:prstGeom prst="line">
            <a:avLst/>
          </a:prstGeom>
          <a:noFill/>
          <a:ln w="12700">
            <a:solidFill>
              <a:srgbClr val="CADCFC"/>
            </a:solidFill>
            <a:prstDash val="solid"/>
          </a:ln>
        </p:spPr>
      </p:sp>
      <p:sp>
        <p:nvSpPr>
          <p:cNvPr id="16" name="Shape 14"/>
          <p:cNvSpPr/>
          <p:nvPr/>
        </p:nvSpPr>
        <p:spPr>
          <a:xfrm>
            <a:off x="548640" y="4443984"/>
            <a:ext cx="256032" cy="256032"/>
          </a:xfrm>
          <a:prstGeom prst="ellipse">
            <a:avLst/>
          </a:prstGeom>
          <a:solidFill>
            <a:srgbClr val="D9A441"/>
          </a:solidFill>
          <a:ln/>
        </p:spPr>
      </p:sp>
      <p:sp>
        <p:nvSpPr>
          <p:cNvPr id="17" name="Text 15"/>
          <p:cNvSpPr txBox="1"/>
          <p:nvPr/>
        </p:nvSpPr>
        <p:spPr>
          <a:xfrm>
            <a:off x="1051560" y="4352544"/>
            <a:ext cx="2743200"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Necesidad principal</a:t>
            </a:r>
            <a:endParaRPr lang="en-US" sz="1400" dirty="0"/>
          </a:p>
        </p:txBody>
      </p:sp>
      <p:sp>
        <p:nvSpPr>
          <p:cNvPr id="18" name="Text 16"/>
          <p:cNvSpPr txBox="1"/>
          <p:nvPr/>
        </p:nvSpPr>
        <p:spPr>
          <a:xfrm>
            <a:off x="3794760" y="4352544"/>
            <a:ext cx="7680960" cy="457200"/>
          </a:xfrm>
          <a:prstGeom prst="rect">
            <a:avLst/>
          </a:prstGeom>
          <a:noFill/>
          <a:ln/>
        </p:spPr>
        <p:txBody>
          <a:bodyPr wrap="square" rtlCol="0" anchor="ctr"/>
          <a:lstStyle/>
          <a:p>
            <a:pPr indent="0" marL="0">
              <a:buNone/>
            </a:pPr>
            <a:r>
              <a:rPr lang="en-US" sz="1400" dirty="0">
                <a:solidFill>
                  <a:srgbClr val="5B6685"/>
                </a:solidFill>
                <a:latin typeface="Calibri" pitchFamily="34" charset="0"/>
                <a:ea typeface="Calibri" pitchFamily="34" charset="-122"/>
                <a:cs typeface="Calibri" pitchFamily="34" charset="-120"/>
              </a:rPr>
              <a:t>Respuestas inmediatas fuera del horario de atención (8:00–17:00)</a:t>
            </a:r>
            <a:endParaRPr lang="en-US" sz="1400" dirty="0"/>
          </a:p>
        </p:txBody>
      </p:sp>
      <p:sp>
        <p:nvSpPr>
          <p:cNvPr id="19" name="Shape 17"/>
          <p:cNvSpPr/>
          <p:nvPr/>
        </p:nvSpPr>
        <p:spPr>
          <a:xfrm>
            <a:off x="548640" y="4965192"/>
            <a:ext cx="10881360" cy="0"/>
          </a:xfrm>
          <a:prstGeom prst="line">
            <a:avLst/>
          </a:prstGeom>
          <a:noFill/>
          <a:ln w="12700">
            <a:solidFill>
              <a:srgbClr val="CADCFC"/>
            </a:solidFill>
            <a:prstDash val="solid"/>
          </a:ln>
        </p:spPr>
      </p:sp>
      <p:sp>
        <p:nvSpPr>
          <p:cNvPr id="20" name="Shape 18"/>
          <p:cNvSpPr/>
          <p:nvPr/>
        </p:nvSpPr>
        <p:spPr>
          <a:xfrm>
            <a:off x="548640" y="5285232"/>
            <a:ext cx="256032" cy="256032"/>
          </a:xfrm>
          <a:prstGeom prst="ellipse">
            <a:avLst/>
          </a:prstGeom>
          <a:solidFill>
            <a:srgbClr val="D9A441"/>
          </a:solidFill>
          <a:ln/>
        </p:spPr>
      </p:sp>
      <p:sp>
        <p:nvSpPr>
          <p:cNvPr id="21" name="Text 19"/>
          <p:cNvSpPr txBox="1"/>
          <p:nvPr/>
        </p:nvSpPr>
        <p:spPr>
          <a:xfrm>
            <a:off x="1051560" y="5193792"/>
            <a:ext cx="2743200"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Fricción actual</a:t>
            </a:r>
            <a:endParaRPr lang="en-US" sz="1400" dirty="0"/>
          </a:p>
        </p:txBody>
      </p:sp>
      <p:sp>
        <p:nvSpPr>
          <p:cNvPr id="22" name="Text 20"/>
          <p:cNvSpPr txBox="1"/>
          <p:nvPr/>
        </p:nvSpPr>
        <p:spPr>
          <a:xfrm>
            <a:off x="3794760" y="5193792"/>
            <a:ext cx="7680960" cy="457200"/>
          </a:xfrm>
          <a:prstGeom prst="rect">
            <a:avLst/>
          </a:prstGeom>
          <a:noFill/>
          <a:ln/>
        </p:spPr>
        <p:txBody>
          <a:bodyPr wrap="square" rtlCol="0" anchor="ctr"/>
          <a:lstStyle/>
          <a:p>
            <a:pPr indent="0" marL="0">
              <a:buNone/>
            </a:pPr>
            <a:r>
              <a:rPr lang="en-US" sz="1400" dirty="0">
                <a:solidFill>
                  <a:srgbClr val="5B6685"/>
                </a:solidFill>
                <a:latin typeface="Calibri" pitchFamily="34" charset="0"/>
                <a:ea typeface="Calibri" pitchFamily="34" charset="-122"/>
                <a:cs typeface="Calibri" pitchFamily="34" charset="-120"/>
              </a:rPr>
              <a:t>Espera telefónica larga y cero trazabilidad de reclamos</a:t>
            </a:r>
            <a:endParaRPr lang="en-US" sz="1400" dirty="0"/>
          </a:p>
        </p:txBody>
      </p:sp>
      <p:sp>
        <p:nvSpPr>
          <p:cNvPr id="23"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1 · DOMINIO PROFESIONAL</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Categorías de FAQs cubiertas</a:t>
            </a:r>
            <a:endParaRPr lang="en-US" sz="3200" dirty="0"/>
          </a:p>
        </p:txBody>
      </p:sp>
      <p:sp>
        <p:nvSpPr>
          <p:cNvPr id="4" name="Shape 2"/>
          <p:cNvSpPr/>
          <p:nvPr/>
        </p:nvSpPr>
        <p:spPr>
          <a:xfrm>
            <a:off x="548640" y="1965960"/>
            <a:ext cx="2567178" cy="1417320"/>
          </a:xfrm>
          <a:prstGeom prst="roundRect">
            <a:avLst>
              <a:gd name="adj" fmla="val 6452"/>
            </a:avLst>
          </a:prstGeom>
          <a:solidFill>
            <a:srgbClr val="FFFFFF"/>
          </a:solidFill>
          <a:ln w="12700">
            <a:solidFill>
              <a:srgbClr val="CADCFC"/>
            </a:solidFill>
            <a:prstDash val="solid"/>
          </a:ln>
        </p:spPr>
      </p:sp>
      <p:sp>
        <p:nvSpPr>
          <p:cNvPr id="5" name="Text 3"/>
          <p:cNvSpPr txBox="1"/>
          <p:nvPr/>
        </p:nvSpPr>
        <p:spPr>
          <a:xfrm>
            <a:off x="713232" y="207568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713232" y="251460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Saldos y movimientos</a:t>
            </a:r>
            <a:endParaRPr lang="en-US" sz="1350" dirty="0"/>
          </a:p>
        </p:txBody>
      </p:sp>
      <p:sp>
        <p:nvSpPr>
          <p:cNvPr id="7" name="Shape 5"/>
          <p:cNvSpPr/>
          <p:nvPr/>
        </p:nvSpPr>
        <p:spPr>
          <a:xfrm>
            <a:off x="3390138" y="1965960"/>
            <a:ext cx="2567178" cy="1417320"/>
          </a:xfrm>
          <a:prstGeom prst="roundRect">
            <a:avLst>
              <a:gd name="adj" fmla="val 6452"/>
            </a:avLst>
          </a:prstGeom>
          <a:solidFill>
            <a:srgbClr val="FFFFFF"/>
          </a:solidFill>
          <a:ln w="12700">
            <a:solidFill>
              <a:srgbClr val="CADCFC"/>
            </a:solidFill>
            <a:prstDash val="solid"/>
          </a:ln>
        </p:spPr>
      </p:sp>
      <p:sp>
        <p:nvSpPr>
          <p:cNvPr id="8" name="Text 6"/>
          <p:cNvSpPr txBox="1"/>
          <p:nvPr/>
        </p:nvSpPr>
        <p:spPr>
          <a:xfrm>
            <a:off x="3554730" y="207568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02</a:t>
            </a:r>
            <a:endParaRPr lang="en-US" sz="1800" dirty="0"/>
          </a:p>
        </p:txBody>
      </p:sp>
      <p:sp>
        <p:nvSpPr>
          <p:cNvPr id="9" name="Text 7"/>
          <p:cNvSpPr txBox="1"/>
          <p:nvPr/>
        </p:nvSpPr>
        <p:spPr>
          <a:xfrm>
            <a:off x="3554730" y="251460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Estado de órdenes</a:t>
            </a:r>
            <a:endParaRPr lang="en-US" sz="1350" dirty="0"/>
          </a:p>
        </p:txBody>
      </p:sp>
      <p:sp>
        <p:nvSpPr>
          <p:cNvPr id="10" name="Shape 8"/>
          <p:cNvSpPr/>
          <p:nvPr/>
        </p:nvSpPr>
        <p:spPr>
          <a:xfrm>
            <a:off x="6231636" y="1965960"/>
            <a:ext cx="2567178" cy="1417320"/>
          </a:xfrm>
          <a:prstGeom prst="roundRect">
            <a:avLst>
              <a:gd name="adj" fmla="val 6452"/>
            </a:avLst>
          </a:prstGeom>
          <a:solidFill>
            <a:srgbClr val="FFFFFF"/>
          </a:solidFill>
          <a:ln w="12700">
            <a:solidFill>
              <a:srgbClr val="CADCFC"/>
            </a:solidFill>
            <a:prstDash val="solid"/>
          </a:ln>
        </p:spPr>
      </p:sp>
      <p:sp>
        <p:nvSpPr>
          <p:cNvPr id="11" name="Text 9"/>
          <p:cNvSpPr txBox="1"/>
          <p:nvPr/>
        </p:nvSpPr>
        <p:spPr>
          <a:xfrm>
            <a:off x="6396228" y="207568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03</a:t>
            </a:r>
            <a:endParaRPr lang="en-US" sz="1800" dirty="0"/>
          </a:p>
        </p:txBody>
      </p:sp>
      <p:sp>
        <p:nvSpPr>
          <p:cNvPr id="12" name="Text 10"/>
          <p:cNvSpPr txBox="1"/>
          <p:nvPr/>
        </p:nvSpPr>
        <p:spPr>
          <a:xfrm>
            <a:off x="6396228" y="251460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Tarifas y comisiones</a:t>
            </a:r>
            <a:endParaRPr lang="en-US" sz="1350" dirty="0"/>
          </a:p>
        </p:txBody>
      </p:sp>
      <p:sp>
        <p:nvSpPr>
          <p:cNvPr id="13" name="Shape 11"/>
          <p:cNvSpPr/>
          <p:nvPr/>
        </p:nvSpPr>
        <p:spPr>
          <a:xfrm>
            <a:off x="9073134" y="1965960"/>
            <a:ext cx="2567178" cy="1417320"/>
          </a:xfrm>
          <a:prstGeom prst="roundRect">
            <a:avLst>
              <a:gd name="adj" fmla="val 6452"/>
            </a:avLst>
          </a:prstGeom>
          <a:solidFill>
            <a:srgbClr val="FFFFFF"/>
          </a:solidFill>
          <a:ln w="12700">
            <a:solidFill>
              <a:srgbClr val="CADCFC"/>
            </a:solidFill>
            <a:prstDash val="solid"/>
          </a:ln>
        </p:spPr>
      </p:sp>
      <p:sp>
        <p:nvSpPr>
          <p:cNvPr id="14" name="Text 12"/>
          <p:cNvSpPr txBox="1"/>
          <p:nvPr/>
        </p:nvSpPr>
        <p:spPr>
          <a:xfrm>
            <a:off x="9237726" y="207568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04</a:t>
            </a:r>
            <a:endParaRPr lang="en-US" sz="1800" dirty="0"/>
          </a:p>
        </p:txBody>
      </p:sp>
      <p:sp>
        <p:nvSpPr>
          <p:cNvPr id="15" name="Text 13"/>
          <p:cNvSpPr txBox="1"/>
          <p:nvPr/>
        </p:nvSpPr>
        <p:spPr>
          <a:xfrm>
            <a:off x="9237726" y="251460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Retiros y depósitos</a:t>
            </a:r>
            <a:endParaRPr lang="en-US" sz="1350" dirty="0"/>
          </a:p>
        </p:txBody>
      </p:sp>
      <p:sp>
        <p:nvSpPr>
          <p:cNvPr id="16" name="Shape 14"/>
          <p:cNvSpPr/>
          <p:nvPr/>
        </p:nvSpPr>
        <p:spPr>
          <a:xfrm>
            <a:off x="548640" y="3657600"/>
            <a:ext cx="2567178" cy="1417320"/>
          </a:xfrm>
          <a:prstGeom prst="roundRect">
            <a:avLst>
              <a:gd name="adj" fmla="val 6452"/>
            </a:avLst>
          </a:prstGeom>
          <a:solidFill>
            <a:srgbClr val="FFFFFF"/>
          </a:solidFill>
          <a:ln w="12700">
            <a:solidFill>
              <a:srgbClr val="CADCFC"/>
            </a:solidFill>
            <a:prstDash val="solid"/>
          </a:ln>
        </p:spPr>
      </p:sp>
      <p:sp>
        <p:nvSpPr>
          <p:cNvPr id="17" name="Text 15"/>
          <p:cNvSpPr txBox="1"/>
          <p:nvPr/>
        </p:nvSpPr>
        <p:spPr>
          <a:xfrm>
            <a:off x="713232" y="376732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05</a:t>
            </a:r>
            <a:endParaRPr lang="en-US" sz="1800" dirty="0"/>
          </a:p>
        </p:txBody>
      </p:sp>
      <p:sp>
        <p:nvSpPr>
          <p:cNvPr id="18" name="Text 16"/>
          <p:cNvSpPr txBox="1"/>
          <p:nvPr/>
        </p:nvSpPr>
        <p:spPr>
          <a:xfrm>
            <a:off x="713232" y="420624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Dividendos y derechos</a:t>
            </a:r>
            <a:endParaRPr lang="en-US" sz="1350" dirty="0"/>
          </a:p>
        </p:txBody>
      </p:sp>
      <p:sp>
        <p:nvSpPr>
          <p:cNvPr id="19" name="Shape 17"/>
          <p:cNvSpPr/>
          <p:nvPr/>
        </p:nvSpPr>
        <p:spPr>
          <a:xfrm>
            <a:off x="3390138" y="3657600"/>
            <a:ext cx="2567178" cy="1417320"/>
          </a:xfrm>
          <a:prstGeom prst="roundRect">
            <a:avLst>
              <a:gd name="adj" fmla="val 6452"/>
            </a:avLst>
          </a:prstGeom>
          <a:solidFill>
            <a:srgbClr val="FFFFFF"/>
          </a:solidFill>
          <a:ln w="12700">
            <a:solidFill>
              <a:srgbClr val="CADCFC"/>
            </a:solidFill>
            <a:prstDash val="solid"/>
          </a:ln>
        </p:spPr>
      </p:sp>
      <p:sp>
        <p:nvSpPr>
          <p:cNvPr id="20" name="Text 18"/>
          <p:cNvSpPr txBox="1"/>
          <p:nvPr/>
        </p:nvSpPr>
        <p:spPr>
          <a:xfrm>
            <a:off x="3554730" y="376732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06</a:t>
            </a:r>
            <a:endParaRPr lang="en-US" sz="1800" dirty="0"/>
          </a:p>
        </p:txBody>
      </p:sp>
      <p:sp>
        <p:nvSpPr>
          <p:cNvPr id="21" name="Text 19"/>
          <p:cNvSpPr txBox="1"/>
          <p:nvPr/>
        </p:nvSpPr>
        <p:spPr>
          <a:xfrm>
            <a:off x="3554730" y="420624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Horarios de mercado</a:t>
            </a:r>
            <a:endParaRPr lang="en-US" sz="1350" dirty="0"/>
          </a:p>
        </p:txBody>
      </p:sp>
      <p:sp>
        <p:nvSpPr>
          <p:cNvPr id="22" name="Shape 20"/>
          <p:cNvSpPr/>
          <p:nvPr/>
        </p:nvSpPr>
        <p:spPr>
          <a:xfrm>
            <a:off x="6231636" y="3657600"/>
            <a:ext cx="2567178" cy="1417320"/>
          </a:xfrm>
          <a:prstGeom prst="roundRect">
            <a:avLst>
              <a:gd name="adj" fmla="val 6452"/>
            </a:avLst>
          </a:prstGeom>
          <a:solidFill>
            <a:srgbClr val="FFFFFF"/>
          </a:solidFill>
          <a:ln w="12700">
            <a:solidFill>
              <a:srgbClr val="CADCFC"/>
            </a:solidFill>
            <a:prstDash val="solid"/>
          </a:ln>
        </p:spPr>
      </p:sp>
      <p:sp>
        <p:nvSpPr>
          <p:cNvPr id="23" name="Text 21"/>
          <p:cNvSpPr txBox="1"/>
          <p:nvPr/>
        </p:nvSpPr>
        <p:spPr>
          <a:xfrm>
            <a:off x="6396228" y="376732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07</a:t>
            </a:r>
            <a:endParaRPr lang="en-US" sz="1800" dirty="0"/>
          </a:p>
        </p:txBody>
      </p:sp>
      <p:sp>
        <p:nvSpPr>
          <p:cNvPr id="24" name="Text 22"/>
          <p:cNvSpPr txBox="1"/>
          <p:nvPr/>
        </p:nvSpPr>
        <p:spPr>
          <a:xfrm>
            <a:off x="6396228" y="420624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Incidencias / tickets</a:t>
            </a:r>
            <a:endParaRPr lang="en-US" sz="1350" dirty="0"/>
          </a:p>
        </p:txBody>
      </p:sp>
      <p:sp>
        <p:nvSpPr>
          <p:cNvPr id="25" name="Shape 23"/>
          <p:cNvSpPr/>
          <p:nvPr/>
        </p:nvSpPr>
        <p:spPr>
          <a:xfrm>
            <a:off x="9073134" y="3657600"/>
            <a:ext cx="2567178" cy="1417320"/>
          </a:xfrm>
          <a:prstGeom prst="roundRect">
            <a:avLst>
              <a:gd name="adj" fmla="val 6452"/>
            </a:avLst>
          </a:prstGeom>
          <a:solidFill>
            <a:srgbClr val="FFFFFF"/>
          </a:solidFill>
          <a:ln w="12700">
            <a:solidFill>
              <a:srgbClr val="CADCFC"/>
            </a:solidFill>
            <a:prstDash val="solid"/>
          </a:ln>
        </p:spPr>
      </p:sp>
      <p:sp>
        <p:nvSpPr>
          <p:cNvPr id="26" name="Text 24"/>
          <p:cNvSpPr txBox="1"/>
          <p:nvPr/>
        </p:nvSpPr>
        <p:spPr>
          <a:xfrm>
            <a:off x="9237726" y="3767328"/>
            <a:ext cx="914400" cy="365760"/>
          </a:xfrm>
          <a:prstGeom prst="rect">
            <a:avLst/>
          </a:prstGeom>
          <a:noFill/>
          <a:ln/>
        </p:spPr>
        <p:txBody>
          <a:bodyPr wrap="square"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08</a:t>
            </a:r>
            <a:endParaRPr lang="en-US" sz="1800" dirty="0"/>
          </a:p>
        </p:txBody>
      </p:sp>
      <p:sp>
        <p:nvSpPr>
          <p:cNvPr id="27" name="Text 25"/>
          <p:cNvSpPr txBox="1"/>
          <p:nvPr/>
        </p:nvSpPr>
        <p:spPr>
          <a:xfrm>
            <a:off x="9237726" y="4206240"/>
            <a:ext cx="2237994" cy="777240"/>
          </a:xfrm>
          <a:prstGeom prst="rect">
            <a:avLst/>
          </a:prstGeom>
          <a:noFill/>
          <a:ln/>
        </p:spPr>
        <p:txBody>
          <a:bodyPr wrap="square" rtlCol="0" anchor="ctr"/>
          <a:lstStyle/>
          <a:p>
            <a:pPr indent="0" marL="0">
              <a:lnSpc>
                <a:spcPts val="1500"/>
              </a:lnSpc>
              <a:buNone/>
            </a:pPr>
            <a:r>
              <a:rPr lang="en-US" sz="1350" b="1" dirty="0">
                <a:solidFill>
                  <a:srgbClr val="1E2761"/>
                </a:solidFill>
                <a:latin typeface="Calibri" pitchFamily="34" charset="0"/>
                <a:ea typeface="Calibri" pitchFamily="34" charset="-122"/>
                <a:cs typeface="Calibri" pitchFamily="34" charset="-120"/>
              </a:rPr>
              <a:t>Escalamiento a asesor</a:t>
            </a:r>
            <a:endParaRPr lang="en-US" sz="1350" dirty="0"/>
          </a:p>
        </p:txBody>
      </p:sp>
      <p:sp>
        <p:nvSpPr>
          <p:cNvPr id="28"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2 · LÓGICA CONVERSACIONAL</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Árbol de decisión simplificado</a:t>
            </a:r>
            <a:endParaRPr lang="en-US" sz="3200" dirty="0"/>
          </a:p>
        </p:txBody>
      </p:sp>
      <p:sp>
        <p:nvSpPr>
          <p:cNvPr id="4" name="Shape 2"/>
          <p:cNvSpPr/>
          <p:nvPr/>
        </p:nvSpPr>
        <p:spPr>
          <a:xfrm>
            <a:off x="548640" y="2377440"/>
            <a:ext cx="1874520" cy="1188720"/>
          </a:xfrm>
          <a:prstGeom prst="roundRect">
            <a:avLst>
              <a:gd name="adj" fmla="val 9231"/>
            </a:avLst>
          </a:prstGeom>
          <a:solidFill>
            <a:srgbClr val="1E2761"/>
          </a:solidFill>
          <a:ln/>
        </p:spPr>
      </p:sp>
      <p:sp>
        <p:nvSpPr>
          <p:cNvPr id="5" name="Text 3"/>
          <p:cNvSpPr txBox="1"/>
          <p:nvPr/>
        </p:nvSpPr>
        <p:spPr>
          <a:xfrm>
            <a:off x="621792" y="2432304"/>
            <a:ext cx="1728216" cy="1078992"/>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Saludo +</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identificación</a:t>
            </a:r>
            <a:endParaRPr lang="en-US" sz="1200" dirty="0"/>
          </a:p>
        </p:txBody>
      </p:sp>
      <p:sp>
        <p:nvSpPr>
          <p:cNvPr id="6" name="Shape 4"/>
          <p:cNvSpPr/>
          <p:nvPr/>
        </p:nvSpPr>
        <p:spPr>
          <a:xfrm>
            <a:off x="2423160" y="2816352"/>
            <a:ext cx="338328" cy="320040"/>
          </a:xfrm>
          <a:prstGeom prst="rightArrow">
            <a:avLst/>
          </a:prstGeom>
          <a:solidFill>
            <a:srgbClr val="CADCFC"/>
          </a:solidFill>
          <a:ln/>
        </p:spPr>
      </p:sp>
      <p:sp>
        <p:nvSpPr>
          <p:cNvPr id="7" name="Shape 5"/>
          <p:cNvSpPr/>
          <p:nvPr/>
        </p:nvSpPr>
        <p:spPr>
          <a:xfrm>
            <a:off x="2852928" y="2377440"/>
            <a:ext cx="1874520" cy="1188720"/>
          </a:xfrm>
          <a:prstGeom prst="roundRect">
            <a:avLst>
              <a:gd name="adj" fmla="val 9231"/>
            </a:avLst>
          </a:prstGeom>
          <a:solidFill>
            <a:srgbClr val="1E2761"/>
          </a:solidFill>
          <a:ln/>
        </p:spPr>
      </p:sp>
      <p:sp>
        <p:nvSpPr>
          <p:cNvPr id="8" name="Text 6"/>
          <p:cNvSpPr txBox="1"/>
          <p:nvPr/>
        </p:nvSpPr>
        <p:spPr>
          <a:xfrm>
            <a:off x="2926080" y="2432304"/>
            <a:ext cx="1728216" cy="1078992"/>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Menú</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principal</a:t>
            </a:r>
            <a:endParaRPr lang="en-US" sz="1200" dirty="0"/>
          </a:p>
        </p:txBody>
      </p:sp>
      <p:sp>
        <p:nvSpPr>
          <p:cNvPr id="9" name="Shape 7"/>
          <p:cNvSpPr/>
          <p:nvPr/>
        </p:nvSpPr>
        <p:spPr>
          <a:xfrm>
            <a:off x="4727448" y="2816352"/>
            <a:ext cx="338328" cy="320040"/>
          </a:xfrm>
          <a:prstGeom prst="rightArrow">
            <a:avLst/>
          </a:prstGeom>
          <a:solidFill>
            <a:srgbClr val="CADCFC"/>
          </a:solidFill>
          <a:ln/>
        </p:spPr>
      </p:sp>
      <p:sp>
        <p:nvSpPr>
          <p:cNvPr id="10" name="Shape 8"/>
          <p:cNvSpPr/>
          <p:nvPr/>
        </p:nvSpPr>
        <p:spPr>
          <a:xfrm>
            <a:off x="5157216" y="2377440"/>
            <a:ext cx="1874520" cy="1188720"/>
          </a:xfrm>
          <a:prstGeom prst="roundRect">
            <a:avLst>
              <a:gd name="adj" fmla="val 9231"/>
            </a:avLst>
          </a:prstGeom>
          <a:solidFill>
            <a:srgbClr val="1E2761"/>
          </a:solidFill>
          <a:ln/>
        </p:spPr>
      </p:sp>
      <p:sp>
        <p:nvSpPr>
          <p:cNvPr id="11" name="Text 9"/>
          <p:cNvSpPr txBox="1"/>
          <p:nvPr/>
        </p:nvSpPr>
        <p:spPr>
          <a:xfrm>
            <a:off x="5230368" y="2432304"/>
            <a:ext cx="1728216" cy="1078992"/>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Consulta</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informativa</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(saldo, tarifas...)</a:t>
            </a:r>
            <a:endParaRPr lang="en-US" sz="1200" dirty="0"/>
          </a:p>
        </p:txBody>
      </p:sp>
      <p:sp>
        <p:nvSpPr>
          <p:cNvPr id="12" name="Shape 10"/>
          <p:cNvSpPr/>
          <p:nvPr/>
        </p:nvSpPr>
        <p:spPr>
          <a:xfrm>
            <a:off x="7031736" y="2816352"/>
            <a:ext cx="338328" cy="320040"/>
          </a:xfrm>
          <a:prstGeom prst="rightArrow">
            <a:avLst/>
          </a:prstGeom>
          <a:solidFill>
            <a:srgbClr val="CADCFC"/>
          </a:solidFill>
          <a:ln/>
        </p:spPr>
      </p:sp>
      <p:sp>
        <p:nvSpPr>
          <p:cNvPr id="13" name="Shape 11"/>
          <p:cNvSpPr/>
          <p:nvPr/>
        </p:nvSpPr>
        <p:spPr>
          <a:xfrm>
            <a:off x="7461504" y="2377440"/>
            <a:ext cx="1874520" cy="1188720"/>
          </a:xfrm>
          <a:prstGeom prst="roundRect">
            <a:avLst>
              <a:gd name="adj" fmla="val 9231"/>
            </a:avLst>
          </a:prstGeom>
          <a:solidFill>
            <a:srgbClr val="D9A441"/>
          </a:solidFill>
          <a:ln/>
        </p:spPr>
      </p:sp>
      <p:sp>
        <p:nvSpPr>
          <p:cNvPr id="14" name="Text 12"/>
          <p:cNvSpPr txBox="1"/>
          <p:nvPr/>
        </p:nvSpPr>
        <p:spPr>
          <a:xfrm>
            <a:off x="7534656" y="2432304"/>
            <a:ext cx="1728216" cy="1078992"/>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Incidencia →</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extracción de datos</a:t>
            </a:r>
            <a:endParaRPr lang="en-US" sz="1200" dirty="0"/>
          </a:p>
        </p:txBody>
      </p:sp>
      <p:sp>
        <p:nvSpPr>
          <p:cNvPr id="15" name="Shape 13"/>
          <p:cNvSpPr/>
          <p:nvPr/>
        </p:nvSpPr>
        <p:spPr>
          <a:xfrm>
            <a:off x="9336024" y="2816352"/>
            <a:ext cx="338328" cy="320040"/>
          </a:xfrm>
          <a:prstGeom prst="rightArrow">
            <a:avLst/>
          </a:prstGeom>
          <a:solidFill>
            <a:srgbClr val="CADCFC"/>
          </a:solidFill>
          <a:ln/>
        </p:spPr>
      </p:sp>
      <p:sp>
        <p:nvSpPr>
          <p:cNvPr id="16" name="Shape 14"/>
          <p:cNvSpPr/>
          <p:nvPr/>
        </p:nvSpPr>
        <p:spPr>
          <a:xfrm>
            <a:off x="9765792" y="2377440"/>
            <a:ext cx="1874520" cy="1188720"/>
          </a:xfrm>
          <a:prstGeom prst="roundRect">
            <a:avLst>
              <a:gd name="adj" fmla="val 9231"/>
            </a:avLst>
          </a:prstGeom>
          <a:solidFill>
            <a:srgbClr val="1E2761"/>
          </a:solidFill>
          <a:ln/>
        </p:spPr>
      </p:sp>
      <p:sp>
        <p:nvSpPr>
          <p:cNvPr id="17" name="Text 15"/>
          <p:cNvSpPr txBox="1"/>
          <p:nvPr/>
        </p:nvSpPr>
        <p:spPr>
          <a:xfrm>
            <a:off x="9838944" y="2432304"/>
            <a:ext cx="1728216" cy="1078992"/>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Ticket creado</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 confirmación</a:t>
            </a:r>
            <a:endParaRPr lang="en-US" sz="1200" dirty="0"/>
          </a:p>
        </p:txBody>
      </p:sp>
      <p:sp>
        <p:nvSpPr>
          <p:cNvPr id="18" name="Text 16"/>
          <p:cNvSpPr txBox="1"/>
          <p:nvPr/>
        </p:nvSpPr>
        <p:spPr>
          <a:xfrm>
            <a:off x="548640" y="4023360"/>
            <a:ext cx="11064240" cy="548640"/>
          </a:xfrm>
          <a:prstGeom prst="rect">
            <a:avLst/>
          </a:prstGeom>
          <a:noFill/>
          <a:ln/>
        </p:spPr>
        <p:txBody>
          <a:bodyPr wrap="square" rtlCol="0" anchor="ctr"/>
          <a:lstStyle/>
          <a:p>
            <a:pPr indent="0" marL="0">
              <a:buNone/>
            </a:pPr>
            <a:r>
              <a:rPr lang="en-US" sz="1300" i="1" dirty="0">
                <a:solidFill>
                  <a:srgbClr val="5B6685"/>
                </a:solidFill>
                <a:latin typeface="Calibri" pitchFamily="34" charset="0"/>
                <a:ea typeface="Calibri" pitchFamily="34" charset="-122"/>
                <a:cs typeface="Calibri" pitchFamily="34" charset="-120"/>
              </a:rPr>
              <a:t>Casos límite manejados: fallback ante intent no reconocido, comando universal “menú” para abandonar un flujo, timeout con reenganche y bloqueo tras 3 intentos fallidos de autenticación.</a:t>
            </a:r>
            <a:endParaRPr lang="en-US" sz="1300" dirty="0"/>
          </a:p>
        </p:txBody>
      </p:sp>
      <p:sp>
        <p:nvSpPr>
          <p:cNvPr id="19" name="Shape 17"/>
          <p:cNvSpPr/>
          <p:nvPr/>
        </p:nvSpPr>
        <p:spPr>
          <a:xfrm>
            <a:off x="548640" y="4709160"/>
            <a:ext cx="11091672" cy="1417320"/>
          </a:xfrm>
          <a:prstGeom prst="roundRect">
            <a:avLst>
              <a:gd name="adj" fmla="val 7742"/>
            </a:avLst>
          </a:prstGeom>
          <a:solidFill>
            <a:srgbClr val="FFFFFF"/>
          </a:solidFill>
          <a:ln w="12700">
            <a:solidFill>
              <a:srgbClr val="CADCFC"/>
            </a:solidFill>
            <a:prstDash val="solid"/>
          </a:ln>
        </p:spPr>
      </p:sp>
      <p:sp>
        <p:nvSpPr>
          <p:cNvPr id="20" name="Text 18"/>
          <p:cNvSpPr txBox="1"/>
          <p:nvPr/>
        </p:nvSpPr>
        <p:spPr>
          <a:xfrm>
            <a:off x="914400" y="4937760"/>
            <a:ext cx="10332720" cy="960120"/>
          </a:xfrm>
          <a:prstGeom prst="rect">
            <a:avLst/>
          </a:prstGeom>
          <a:noFill/>
          <a:ln/>
        </p:spPr>
        <p:txBody>
          <a:bodyPr wrap="square" rtlCol="0" anchor="ctr"/>
          <a:lstStyle/>
          <a:p>
            <a:pPr indent="0" marL="0">
              <a:buNone/>
            </a:pPr>
            <a:r>
              <a:rPr lang="en-US" sz="1300" dirty="0">
                <a:solidFill>
                  <a:srgbClr val="5B6685"/>
                </a:solidFill>
                <a:latin typeface="Calibri" pitchFamily="34" charset="0"/>
                <a:ea typeface="Calibri" pitchFamily="34" charset="-122"/>
                <a:cs typeface="Calibri" pitchFamily="34" charset="-120"/>
              </a:rPr>
              <a:t>Diagrama completo (Mermaid.js) en el informe técnico, sección 4.1 — incluye autenticación, 8 ramas del menú principal y manejo de excepciones.</a:t>
            </a:r>
            <a:endParaRPr lang="en-US" sz="1300" dirty="0"/>
          </a:p>
        </p:txBody>
      </p:sp>
      <p:sp>
        <p:nvSpPr>
          <p:cNvPr id="21"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2 · LÓGICA CONVERSACIONAL</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Reglas del prompt de sistema</a:t>
            </a:r>
            <a:endParaRPr lang="en-US" sz="3200" dirty="0"/>
          </a:p>
        </p:txBody>
      </p:sp>
      <p:sp>
        <p:nvSpPr>
          <p:cNvPr id="4" name="Shape 2"/>
          <p:cNvSpPr/>
          <p:nvPr/>
        </p:nvSpPr>
        <p:spPr>
          <a:xfrm>
            <a:off x="548640" y="1874520"/>
            <a:ext cx="3520440" cy="3566160"/>
          </a:xfrm>
          <a:prstGeom prst="roundRect">
            <a:avLst>
              <a:gd name="adj" fmla="val 3117"/>
            </a:avLst>
          </a:prstGeom>
          <a:solidFill>
            <a:srgbClr val="141B4D"/>
          </a:solidFill>
          <a:ln w="12700">
            <a:solidFill>
              <a:srgbClr val="2E3A7A"/>
            </a:solidFill>
            <a:prstDash val="solid"/>
          </a:ln>
        </p:spPr>
      </p:sp>
      <p:sp>
        <p:nvSpPr>
          <p:cNvPr id="5" name="Shape 3"/>
          <p:cNvSpPr/>
          <p:nvPr/>
        </p:nvSpPr>
        <p:spPr>
          <a:xfrm>
            <a:off x="822960" y="2148840"/>
            <a:ext cx="502920" cy="502920"/>
          </a:xfrm>
          <a:prstGeom prst="roundRect">
            <a:avLst>
              <a:gd name="adj" fmla="val 50909"/>
            </a:avLst>
          </a:prstGeom>
          <a:solidFill>
            <a:srgbClr val="D9A441"/>
          </a:solidFill>
          <a:ln/>
        </p:spPr>
      </p:sp>
      <p:sp>
        <p:nvSpPr>
          <p:cNvPr id="6" name="Text 4"/>
          <p:cNvSpPr txBox="1"/>
          <p:nvPr/>
        </p:nvSpPr>
        <p:spPr>
          <a:xfrm>
            <a:off x="822960" y="2148840"/>
            <a:ext cx="502920" cy="502920"/>
          </a:xfrm>
          <a:prstGeom prst="rect">
            <a:avLst/>
          </a:prstGeom>
          <a:noFill/>
          <a:ln/>
        </p:spPr>
        <p:txBody>
          <a:bodyPr wrap="square" rtlCol="0" anchor="ctr"/>
          <a:lstStyle/>
          <a:p>
            <a:pPr algn="ctr" indent="0" marL="0">
              <a:buNone/>
            </a:pPr>
            <a:r>
              <a:rPr lang="en-US" sz="2000" b="1" dirty="0">
                <a:solidFill>
                  <a:srgbClr val="141B4D"/>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22960" y="2788920"/>
            <a:ext cx="2971800" cy="411480"/>
          </a:xfrm>
          <a:prstGeom prst="rect">
            <a:avLst/>
          </a:prstGeom>
          <a:noFill/>
          <a:ln/>
        </p:spPr>
        <p:txBody>
          <a:bodyPr wrap="square"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Alcance</a:t>
            </a:r>
            <a:endParaRPr lang="en-US" sz="1600" dirty="0"/>
          </a:p>
        </p:txBody>
      </p:sp>
      <p:sp>
        <p:nvSpPr>
          <p:cNvPr id="8" name="Text 6"/>
          <p:cNvSpPr txBox="1"/>
          <p:nvPr/>
        </p:nvSpPr>
        <p:spPr>
          <a:xfrm>
            <a:off x="822960" y="3246120"/>
            <a:ext cx="2971800" cy="2011680"/>
          </a:xfrm>
          <a:prstGeom prst="rect">
            <a:avLst/>
          </a:prstGeom>
          <a:noFill/>
          <a:ln/>
        </p:spPr>
        <p:txBody>
          <a:bodyPr wrap="square" rtlCol="0" anchor="ctr"/>
          <a:lstStyle/>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No da asesoría de inversión</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No ejecuta órdenes reales</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No revela datos de otro cliente</a:t>
            </a:r>
            <a:endParaRPr lang="en-US" sz="1300" dirty="0"/>
          </a:p>
        </p:txBody>
      </p:sp>
      <p:sp>
        <p:nvSpPr>
          <p:cNvPr id="9" name="Shape 7"/>
          <p:cNvSpPr/>
          <p:nvPr/>
        </p:nvSpPr>
        <p:spPr>
          <a:xfrm>
            <a:off x="4343400" y="1874520"/>
            <a:ext cx="3520440" cy="3566160"/>
          </a:xfrm>
          <a:prstGeom prst="roundRect">
            <a:avLst>
              <a:gd name="adj" fmla="val 3117"/>
            </a:avLst>
          </a:prstGeom>
          <a:solidFill>
            <a:srgbClr val="141B4D"/>
          </a:solidFill>
          <a:ln w="12700">
            <a:solidFill>
              <a:srgbClr val="2E3A7A"/>
            </a:solidFill>
            <a:prstDash val="solid"/>
          </a:ln>
        </p:spPr>
      </p:sp>
      <p:sp>
        <p:nvSpPr>
          <p:cNvPr id="10" name="Shape 8"/>
          <p:cNvSpPr/>
          <p:nvPr/>
        </p:nvSpPr>
        <p:spPr>
          <a:xfrm>
            <a:off x="4617720" y="2148840"/>
            <a:ext cx="502920" cy="502920"/>
          </a:xfrm>
          <a:prstGeom prst="roundRect">
            <a:avLst>
              <a:gd name="adj" fmla="val 50909"/>
            </a:avLst>
          </a:prstGeom>
          <a:solidFill>
            <a:srgbClr val="D9A441"/>
          </a:solidFill>
          <a:ln/>
        </p:spPr>
      </p:sp>
      <p:sp>
        <p:nvSpPr>
          <p:cNvPr id="11" name="Text 9"/>
          <p:cNvSpPr txBox="1"/>
          <p:nvPr/>
        </p:nvSpPr>
        <p:spPr>
          <a:xfrm>
            <a:off x="4617720" y="2148840"/>
            <a:ext cx="502920" cy="502920"/>
          </a:xfrm>
          <a:prstGeom prst="rect">
            <a:avLst/>
          </a:prstGeom>
          <a:noFill/>
          <a:ln/>
        </p:spPr>
        <p:txBody>
          <a:bodyPr wrap="square" rtlCol="0" anchor="ctr"/>
          <a:lstStyle/>
          <a:p>
            <a:pPr algn="ctr" indent="0" marL="0">
              <a:buNone/>
            </a:pPr>
            <a:r>
              <a:rPr lang="en-US" sz="2000" b="1" dirty="0">
                <a:solidFill>
                  <a:srgbClr val="141B4D"/>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617720" y="2788920"/>
            <a:ext cx="2971800" cy="411480"/>
          </a:xfrm>
          <a:prstGeom prst="rect">
            <a:avLst/>
          </a:prstGeom>
          <a:noFill/>
          <a:ln/>
        </p:spPr>
        <p:txBody>
          <a:bodyPr wrap="square"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Tono</a:t>
            </a:r>
            <a:endParaRPr lang="en-US" sz="1600" dirty="0"/>
          </a:p>
        </p:txBody>
      </p:sp>
      <p:sp>
        <p:nvSpPr>
          <p:cNvPr id="13" name="Text 11"/>
          <p:cNvSpPr txBox="1"/>
          <p:nvPr/>
        </p:nvSpPr>
        <p:spPr>
          <a:xfrm>
            <a:off x="4617720" y="3246120"/>
            <a:ext cx="2971800" cy="2011680"/>
          </a:xfrm>
          <a:prstGeom prst="rect">
            <a:avLst/>
          </a:prstGeom>
          <a:noFill/>
          <a:ln/>
        </p:spPr>
        <p:txBody>
          <a:bodyPr wrap="square" rtlCol="0" anchor="ctr"/>
          <a:lstStyle/>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Profesional y cercano</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Confirma antes de crear un ticket</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Nunca promete rentabilidad</a:t>
            </a:r>
            <a:endParaRPr lang="en-US" sz="1300" dirty="0"/>
          </a:p>
        </p:txBody>
      </p:sp>
      <p:sp>
        <p:nvSpPr>
          <p:cNvPr id="14" name="Shape 12"/>
          <p:cNvSpPr/>
          <p:nvPr/>
        </p:nvSpPr>
        <p:spPr>
          <a:xfrm>
            <a:off x="8138160" y="1874520"/>
            <a:ext cx="3520440" cy="3566160"/>
          </a:xfrm>
          <a:prstGeom prst="roundRect">
            <a:avLst>
              <a:gd name="adj" fmla="val 3117"/>
            </a:avLst>
          </a:prstGeom>
          <a:solidFill>
            <a:srgbClr val="141B4D"/>
          </a:solidFill>
          <a:ln w="12700">
            <a:solidFill>
              <a:srgbClr val="2E3A7A"/>
            </a:solidFill>
            <a:prstDash val="solid"/>
          </a:ln>
        </p:spPr>
      </p:sp>
      <p:sp>
        <p:nvSpPr>
          <p:cNvPr id="15" name="Shape 13"/>
          <p:cNvSpPr/>
          <p:nvPr/>
        </p:nvSpPr>
        <p:spPr>
          <a:xfrm>
            <a:off x="8412480" y="2148840"/>
            <a:ext cx="502920" cy="502920"/>
          </a:xfrm>
          <a:prstGeom prst="roundRect">
            <a:avLst>
              <a:gd name="adj" fmla="val 50909"/>
            </a:avLst>
          </a:prstGeom>
          <a:solidFill>
            <a:srgbClr val="D9A441"/>
          </a:solidFill>
          <a:ln/>
        </p:spPr>
      </p:sp>
      <p:sp>
        <p:nvSpPr>
          <p:cNvPr id="16" name="Text 14"/>
          <p:cNvSpPr txBox="1"/>
          <p:nvPr/>
        </p:nvSpPr>
        <p:spPr>
          <a:xfrm>
            <a:off x="8412480" y="2148840"/>
            <a:ext cx="502920" cy="502920"/>
          </a:xfrm>
          <a:prstGeom prst="rect">
            <a:avLst/>
          </a:prstGeom>
          <a:noFill/>
          <a:ln/>
        </p:spPr>
        <p:txBody>
          <a:bodyPr wrap="square" rtlCol="0" anchor="ctr"/>
          <a:lstStyle/>
          <a:p>
            <a:pPr algn="ctr" indent="0" marL="0">
              <a:buNone/>
            </a:pPr>
            <a:r>
              <a:rPr lang="en-US" sz="2000" b="1" dirty="0">
                <a:solidFill>
                  <a:srgbClr val="141B4D"/>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8412480" y="2788920"/>
            <a:ext cx="2971800" cy="411480"/>
          </a:xfrm>
          <a:prstGeom prst="rect">
            <a:avLst/>
          </a:prstGeom>
          <a:noFill/>
          <a:ln/>
        </p:spPr>
        <p:txBody>
          <a:bodyPr wrap="square"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Extracción de entidades</a:t>
            </a:r>
            <a:endParaRPr lang="en-US" sz="1600" dirty="0"/>
          </a:p>
        </p:txBody>
      </p:sp>
      <p:sp>
        <p:nvSpPr>
          <p:cNvPr id="18" name="Text 16"/>
          <p:cNvSpPr txBox="1"/>
          <p:nvPr/>
        </p:nvSpPr>
        <p:spPr>
          <a:xfrm>
            <a:off x="8412480" y="3246120"/>
            <a:ext cx="2971800" cy="2011680"/>
          </a:xfrm>
          <a:prstGeom prst="rect">
            <a:avLst/>
          </a:prstGeom>
          <a:noFill/>
          <a:ln/>
        </p:spPr>
        <p:txBody>
          <a:bodyPr wrap="square" rtlCol="0" anchor="ctr"/>
          <a:lstStyle/>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nombre_completo, correo, telefono</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motivo_consulta (enum cerrado)</a:t>
            </a:r>
            <a:endParaRPr lang="en-US" sz="1300" dirty="0"/>
          </a:p>
          <a:p>
            <a:pPr marL="342900" indent="-342900">
              <a:lnSpc>
                <a:spcPts val="16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numero_cuenta / numero_orden</a:t>
            </a:r>
            <a:endParaRPr lang="en-US" sz="1300" dirty="0"/>
          </a:p>
        </p:txBody>
      </p:sp>
      <p:sp>
        <p:nvSpPr>
          <p:cNvPr id="19"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3 · ARQUITECTURA DE DATOS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Modelo relacional (PostgreSQL / Supabase)</a:t>
            </a:r>
            <a:endParaRPr lang="en-US" sz="3000" dirty="0"/>
          </a:p>
        </p:txBody>
      </p:sp>
      <p:sp>
        <p:nvSpPr>
          <p:cNvPr id="4" name="Shape 2"/>
          <p:cNvSpPr/>
          <p:nvPr/>
        </p:nvSpPr>
        <p:spPr>
          <a:xfrm>
            <a:off x="548640" y="1874520"/>
            <a:ext cx="2286000" cy="658368"/>
          </a:xfrm>
          <a:prstGeom prst="roundRect">
            <a:avLst>
              <a:gd name="adj" fmla="val 11111"/>
            </a:avLst>
          </a:prstGeom>
          <a:solidFill>
            <a:srgbClr val="1E2761"/>
          </a:solidFill>
          <a:ln/>
        </p:spPr>
      </p:sp>
      <p:sp>
        <p:nvSpPr>
          <p:cNvPr id="5" name="Text 3"/>
          <p:cNvSpPr txBox="1"/>
          <p:nvPr/>
        </p:nvSpPr>
        <p:spPr>
          <a:xfrm>
            <a:off x="548640" y="1874520"/>
            <a:ext cx="2286000" cy="65836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clientes</a:t>
            </a:r>
            <a:endParaRPr lang="en-US" sz="1350" dirty="0"/>
          </a:p>
        </p:txBody>
      </p:sp>
      <p:sp>
        <p:nvSpPr>
          <p:cNvPr id="6" name="Shape 4"/>
          <p:cNvSpPr/>
          <p:nvPr/>
        </p:nvSpPr>
        <p:spPr>
          <a:xfrm>
            <a:off x="2971800" y="1874520"/>
            <a:ext cx="8668512" cy="658368"/>
          </a:xfrm>
          <a:prstGeom prst="roundRect">
            <a:avLst>
              <a:gd name="adj" fmla="val 11111"/>
            </a:avLst>
          </a:prstGeom>
          <a:solidFill>
            <a:srgbClr val="FFFFFF"/>
          </a:solidFill>
          <a:ln w="12700">
            <a:solidFill>
              <a:srgbClr val="CADCFC"/>
            </a:solidFill>
            <a:prstDash val="solid"/>
          </a:ln>
        </p:spPr>
      </p:sp>
      <p:sp>
        <p:nvSpPr>
          <p:cNvPr id="7" name="Text 5"/>
          <p:cNvSpPr txBox="1"/>
          <p:nvPr/>
        </p:nvSpPr>
        <p:spPr>
          <a:xfrm>
            <a:off x="3200400" y="1874520"/>
            <a:ext cx="8229600" cy="658368"/>
          </a:xfrm>
          <a:prstGeom prst="rect">
            <a:avLst/>
          </a:prstGeom>
          <a:noFill/>
          <a:ln/>
        </p:spPr>
        <p:txBody>
          <a:bodyPr wrap="square" rtlCol="0" anchor="ctr"/>
          <a:lstStyle/>
          <a:p>
            <a:pPr indent="0" marL="0">
              <a:buNone/>
            </a:pPr>
            <a:r>
              <a:rPr lang="en-US" sz="1250" dirty="0">
                <a:solidFill>
                  <a:srgbClr val="5B6685"/>
                </a:solidFill>
                <a:latin typeface="Calibri" pitchFamily="34" charset="0"/>
                <a:ea typeface="Calibri" pitchFamily="34" charset="-122"/>
                <a:cs typeface="Calibri" pitchFamily="34" charset="-120"/>
              </a:rPr>
              <a:t>id_cliente (PK), correo (UNIQUE), cedula (UNIQUE), perfil_riesgo</a:t>
            </a:r>
            <a:endParaRPr lang="en-US" sz="1250" dirty="0"/>
          </a:p>
        </p:txBody>
      </p:sp>
      <p:sp>
        <p:nvSpPr>
          <p:cNvPr id="8" name="Shape 6"/>
          <p:cNvSpPr/>
          <p:nvPr/>
        </p:nvSpPr>
        <p:spPr>
          <a:xfrm>
            <a:off x="548640" y="2697480"/>
            <a:ext cx="2286000" cy="658368"/>
          </a:xfrm>
          <a:prstGeom prst="roundRect">
            <a:avLst>
              <a:gd name="adj" fmla="val 11111"/>
            </a:avLst>
          </a:prstGeom>
          <a:solidFill>
            <a:srgbClr val="1E2761"/>
          </a:solidFill>
          <a:ln/>
        </p:spPr>
      </p:sp>
      <p:sp>
        <p:nvSpPr>
          <p:cNvPr id="9" name="Text 7"/>
          <p:cNvSpPr txBox="1"/>
          <p:nvPr/>
        </p:nvSpPr>
        <p:spPr>
          <a:xfrm>
            <a:off x="548640" y="2697480"/>
            <a:ext cx="2286000" cy="65836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cuentas</a:t>
            </a:r>
            <a:endParaRPr lang="en-US" sz="1350" dirty="0"/>
          </a:p>
        </p:txBody>
      </p:sp>
      <p:sp>
        <p:nvSpPr>
          <p:cNvPr id="10" name="Shape 8"/>
          <p:cNvSpPr/>
          <p:nvPr/>
        </p:nvSpPr>
        <p:spPr>
          <a:xfrm>
            <a:off x="2971800" y="2697480"/>
            <a:ext cx="8668512" cy="658368"/>
          </a:xfrm>
          <a:prstGeom prst="roundRect">
            <a:avLst>
              <a:gd name="adj" fmla="val 11111"/>
            </a:avLst>
          </a:prstGeom>
          <a:solidFill>
            <a:srgbClr val="FFFFFF"/>
          </a:solidFill>
          <a:ln w="12700">
            <a:solidFill>
              <a:srgbClr val="CADCFC"/>
            </a:solidFill>
            <a:prstDash val="solid"/>
          </a:ln>
        </p:spPr>
      </p:sp>
      <p:sp>
        <p:nvSpPr>
          <p:cNvPr id="11" name="Text 9"/>
          <p:cNvSpPr txBox="1"/>
          <p:nvPr/>
        </p:nvSpPr>
        <p:spPr>
          <a:xfrm>
            <a:off x="3200400" y="2697480"/>
            <a:ext cx="8229600" cy="658368"/>
          </a:xfrm>
          <a:prstGeom prst="rect">
            <a:avLst/>
          </a:prstGeom>
          <a:noFill/>
          <a:ln/>
        </p:spPr>
        <p:txBody>
          <a:bodyPr wrap="square" rtlCol="0" anchor="ctr"/>
          <a:lstStyle/>
          <a:p>
            <a:pPr indent="0" marL="0">
              <a:buNone/>
            </a:pPr>
            <a:r>
              <a:rPr lang="en-US" sz="1250" dirty="0">
                <a:solidFill>
                  <a:srgbClr val="5B6685"/>
                </a:solidFill>
                <a:latin typeface="Calibri" pitchFamily="34" charset="0"/>
                <a:ea typeface="Calibri" pitchFamily="34" charset="-122"/>
                <a:cs typeface="Calibri" pitchFamily="34" charset="-120"/>
              </a:rPr>
              <a:t>id_cuenta (PK), id_cliente (FK), saldo_disponible, estado_cuenta</a:t>
            </a:r>
            <a:endParaRPr lang="en-US" sz="1250" dirty="0"/>
          </a:p>
        </p:txBody>
      </p:sp>
      <p:sp>
        <p:nvSpPr>
          <p:cNvPr id="12" name="Shape 10"/>
          <p:cNvSpPr/>
          <p:nvPr/>
        </p:nvSpPr>
        <p:spPr>
          <a:xfrm>
            <a:off x="548640" y="3520440"/>
            <a:ext cx="2286000" cy="658368"/>
          </a:xfrm>
          <a:prstGeom prst="roundRect">
            <a:avLst>
              <a:gd name="adj" fmla="val 11111"/>
            </a:avLst>
          </a:prstGeom>
          <a:solidFill>
            <a:srgbClr val="1E2761"/>
          </a:solidFill>
          <a:ln/>
        </p:spPr>
      </p:sp>
      <p:sp>
        <p:nvSpPr>
          <p:cNvPr id="13" name="Text 11"/>
          <p:cNvSpPr txBox="1"/>
          <p:nvPr/>
        </p:nvSpPr>
        <p:spPr>
          <a:xfrm>
            <a:off x="548640" y="3520440"/>
            <a:ext cx="2286000" cy="65836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ordenes</a:t>
            </a:r>
            <a:endParaRPr lang="en-US" sz="1350" dirty="0"/>
          </a:p>
        </p:txBody>
      </p:sp>
      <p:sp>
        <p:nvSpPr>
          <p:cNvPr id="14" name="Shape 12"/>
          <p:cNvSpPr/>
          <p:nvPr/>
        </p:nvSpPr>
        <p:spPr>
          <a:xfrm>
            <a:off x="2971800" y="3520440"/>
            <a:ext cx="8668512" cy="658368"/>
          </a:xfrm>
          <a:prstGeom prst="roundRect">
            <a:avLst>
              <a:gd name="adj" fmla="val 11111"/>
            </a:avLst>
          </a:prstGeom>
          <a:solidFill>
            <a:srgbClr val="FFFFFF"/>
          </a:solidFill>
          <a:ln w="12700">
            <a:solidFill>
              <a:srgbClr val="CADCFC"/>
            </a:solidFill>
            <a:prstDash val="solid"/>
          </a:ln>
        </p:spPr>
      </p:sp>
      <p:sp>
        <p:nvSpPr>
          <p:cNvPr id="15" name="Text 13"/>
          <p:cNvSpPr txBox="1"/>
          <p:nvPr/>
        </p:nvSpPr>
        <p:spPr>
          <a:xfrm>
            <a:off x="3200400" y="3520440"/>
            <a:ext cx="8229600" cy="658368"/>
          </a:xfrm>
          <a:prstGeom prst="rect">
            <a:avLst/>
          </a:prstGeom>
          <a:noFill/>
          <a:ln/>
        </p:spPr>
        <p:txBody>
          <a:bodyPr wrap="square" rtlCol="0" anchor="ctr"/>
          <a:lstStyle/>
          <a:p>
            <a:pPr indent="0" marL="0">
              <a:buNone/>
            </a:pPr>
            <a:r>
              <a:rPr lang="en-US" sz="1250" dirty="0">
                <a:solidFill>
                  <a:srgbClr val="5B6685"/>
                </a:solidFill>
                <a:latin typeface="Calibri" pitchFamily="34" charset="0"/>
                <a:ea typeface="Calibri" pitchFamily="34" charset="-122"/>
                <a:cs typeface="Calibri" pitchFamily="34" charset="-120"/>
              </a:rPr>
              <a:t>id_orden (PK), id_cuenta (FK), id_instrumento (FK), estado_orden</a:t>
            </a:r>
            <a:endParaRPr lang="en-US" sz="1250" dirty="0"/>
          </a:p>
        </p:txBody>
      </p:sp>
      <p:sp>
        <p:nvSpPr>
          <p:cNvPr id="16" name="Shape 14"/>
          <p:cNvSpPr/>
          <p:nvPr/>
        </p:nvSpPr>
        <p:spPr>
          <a:xfrm>
            <a:off x="548640" y="4343400"/>
            <a:ext cx="2286000" cy="658368"/>
          </a:xfrm>
          <a:prstGeom prst="roundRect">
            <a:avLst>
              <a:gd name="adj" fmla="val 11111"/>
            </a:avLst>
          </a:prstGeom>
          <a:solidFill>
            <a:srgbClr val="1E2761"/>
          </a:solidFill>
          <a:ln/>
        </p:spPr>
      </p:sp>
      <p:sp>
        <p:nvSpPr>
          <p:cNvPr id="17" name="Text 15"/>
          <p:cNvSpPr txBox="1"/>
          <p:nvPr/>
        </p:nvSpPr>
        <p:spPr>
          <a:xfrm>
            <a:off x="548640" y="4343400"/>
            <a:ext cx="2286000" cy="65836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tickets</a:t>
            </a:r>
            <a:endParaRPr lang="en-US" sz="1350" dirty="0"/>
          </a:p>
        </p:txBody>
      </p:sp>
      <p:sp>
        <p:nvSpPr>
          <p:cNvPr id="18" name="Shape 16"/>
          <p:cNvSpPr/>
          <p:nvPr/>
        </p:nvSpPr>
        <p:spPr>
          <a:xfrm>
            <a:off x="2971800" y="4343400"/>
            <a:ext cx="8668512" cy="658368"/>
          </a:xfrm>
          <a:prstGeom prst="roundRect">
            <a:avLst>
              <a:gd name="adj" fmla="val 11111"/>
            </a:avLst>
          </a:prstGeom>
          <a:solidFill>
            <a:srgbClr val="FFFFFF"/>
          </a:solidFill>
          <a:ln w="12700">
            <a:solidFill>
              <a:srgbClr val="CADCFC"/>
            </a:solidFill>
            <a:prstDash val="solid"/>
          </a:ln>
        </p:spPr>
      </p:sp>
      <p:sp>
        <p:nvSpPr>
          <p:cNvPr id="19" name="Text 17"/>
          <p:cNvSpPr txBox="1"/>
          <p:nvPr/>
        </p:nvSpPr>
        <p:spPr>
          <a:xfrm>
            <a:off x="3200400" y="4343400"/>
            <a:ext cx="8229600" cy="658368"/>
          </a:xfrm>
          <a:prstGeom prst="rect">
            <a:avLst/>
          </a:prstGeom>
          <a:noFill/>
          <a:ln/>
        </p:spPr>
        <p:txBody>
          <a:bodyPr wrap="square" rtlCol="0" anchor="ctr"/>
          <a:lstStyle/>
          <a:p>
            <a:pPr indent="0" marL="0">
              <a:buNone/>
            </a:pPr>
            <a:r>
              <a:rPr lang="en-US" sz="1250" dirty="0">
                <a:solidFill>
                  <a:srgbClr val="5B6685"/>
                </a:solidFill>
                <a:latin typeface="Calibri" pitchFamily="34" charset="0"/>
                <a:ea typeface="Calibri" pitchFamily="34" charset="-122"/>
                <a:cs typeface="Calibri" pitchFamily="34" charset="-120"/>
              </a:rPr>
              <a:t>id_ticket (PK), id_cliente (FK), idempotency_key (UNIQUE), estado_solicitud</a:t>
            </a:r>
            <a:endParaRPr lang="en-US" sz="1250" dirty="0"/>
          </a:p>
        </p:txBody>
      </p:sp>
      <p:sp>
        <p:nvSpPr>
          <p:cNvPr id="20" name="Shape 18"/>
          <p:cNvSpPr/>
          <p:nvPr/>
        </p:nvSpPr>
        <p:spPr>
          <a:xfrm>
            <a:off x="548640" y="5166360"/>
            <a:ext cx="2286000" cy="658368"/>
          </a:xfrm>
          <a:prstGeom prst="roundRect">
            <a:avLst>
              <a:gd name="adj" fmla="val 11111"/>
            </a:avLst>
          </a:prstGeom>
          <a:solidFill>
            <a:srgbClr val="1E2761"/>
          </a:solidFill>
          <a:ln/>
        </p:spPr>
      </p:sp>
      <p:sp>
        <p:nvSpPr>
          <p:cNvPr id="21" name="Text 19"/>
          <p:cNvSpPr txBox="1"/>
          <p:nvPr/>
        </p:nvSpPr>
        <p:spPr>
          <a:xfrm>
            <a:off x="548640" y="5166360"/>
            <a:ext cx="2286000" cy="65836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interacciones_chatbot</a:t>
            </a:r>
            <a:endParaRPr lang="en-US" sz="1350" dirty="0"/>
          </a:p>
        </p:txBody>
      </p:sp>
      <p:sp>
        <p:nvSpPr>
          <p:cNvPr id="22" name="Shape 20"/>
          <p:cNvSpPr/>
          <p:nvPr/>
        </p:nvSpPr>
        <p:spPr>
          <a:xfrm>
            <a:off x="2971800" y="5166360"/>
            <a:ext cx="8668512" cy="658368"/>
          </a:xfrm>
          <a:prstGeom prst="roundRect">
            <a:avLst>
              <a:gd name="adj" fmla="val 11111"/>
            </a:avLst>
          </a:prstGeom>
          <a:solidFill>
            <a:srgbClr val="FFFFFF"/>
          </a:solidFill>
          <a:ln w="12700">
            <a:solidFill>
              <a:srgbClr val="CADCFC"/>
            </a:solidFill>
            <a:prstDash val="solid"/>
          </a:ln>
        </p:spPr>
      </p:sp>
      <p:sp>
        <p:nvSpPr>
          <p:cNvPr id="23" name="Text 21"/>
          <p:cNvSpPr txBox="1"/>
          <p:nvPr/>
        </p:nvSpPr>
        <p:spPr>
          <a:xfrm>
            <a:off x="3200400" y="5166360"/>
            <a:ext cx="8229600" cy="658368"/>
          </a:xfrm>
          <a:prstGeom prst="rect">
            <a:avLst/>
          </a:prstGeom>
          <a:noFill/>
          <a:ln/>
        </p:spPr>
        <p:txBody>
          <a:bodyPr wrap="square" rtlCol="0" anchor="ctr"/>
          <a:lstStyle/>
          <a:p>
            <a:pPr indent="0" marL="0">
              <a:buNone/>
            </a:pPr>
            <a:r>
              <a:rPr lang="en-US" sz="1250" dirty="0">
                <a:solidFill>
                  <a:srgbClr val="5B6685"/>
                </a:solidFill>
                <a:latin typeface="Calibri" pitchFamily="34" charset="0"/>
                <a:ea typeface="Calibri" pitchFamily="34" charset="-122"/>
                <a:cs typeface="Calibri" pitchFamily="34" charset="-120"/>
              </a:rPr>
              <a:t>id_interaccion (PK), id_cliente (FK), id_ticket (FK), intent_detectado</a:t>
            </a:r>
            <a:endParaRPr lang="en-US" sz="1250" dirty="0"/>
          </a:p>
        </p:txBody>
      </p:sp>
      <p:sp>
        <p:nvSpPr>
          <p:cNvPr id="24" name="Text 22"/>
          <p:cNvSpPr txBox="1"/>
          <p:nvPr/>
        </p:nvSpPr>
        <p:spPr>
          <a:xfrm>
            <a:off x="548640" y="5989320"/>
            <a:ext cx="11091672" cy="457200"/>
          </a:xfrm>
          <a:prstGeom prst="rect">
            <a:avLst/>
          </a:prstGeom>
          <a:noFill/>
          <a:ln/>
        </p:spPr>
        <p:txBody>
          <a:bodyPr wrap="square" rtlCol="0" anchor="ctr"/>
          <a:lstStyle/>
          <a:p>
            <a:pPr indent="0" marL="0">
              <a:buNone/>
            </a:pPr>
            <a:r>
              <a:rPr lang="en-US" sz="1250" i="1" dirty="0">
                <a:solidFill>
                  <a:srgbClr val="5B6685"/>
                </a:solidFill>
                <a:latin typeface="Calibri" pitchFamily="34" charset="0"/>
                <a:ea typeface="Calibri" pitchFamily="34" charset="-122"/>
                <a:cs typeface="Calibri" pitchFamily="34" charset="-120"/>
              </a:rPr>
              <a:t>Refuerzos clave: trigger de auditoría (fecha_actualizacion automática) e idempotency_key para evitar tickets duplicados ante reintentos de webhook.</a:t>
            </a:r>
            <a:endParaRPr lang="en-US" sz="125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3 · AUTOMATIZACIÓN</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De la conversación al registro, en tiempo real</a:t>
            </a:r>
            <a:endParaRPr lang="en-US" sz="2800" dirty="0"/>
          </a:p>
        </p:txBody>
      </p:sp>
      <p:sp>
        <p:nvSpPr>
          <p:cNvPr id="4" name="Shape 2"/>
          <p:cNvSpPr/>
          <p:nvPr/>
        </p:nvSpPr>
        <p:spPr>
          <a:xfrm>
            <a:off x="548640" y="2194560"/>
            <a:ext cx="2331720" cy="1371600"/>
          </a:xfrm>
          <a:prstGeom prst="roundRect">
            <a:avLst>
              <a:gd name="adj" fmla="val 8000"/>
            </a:avLst>
          </a:prstGeom>
          <a:solidFill>
            <a:srgbClr val="1E2761"/>
          </a:solidFill>
          <a:ln/>
          <a:effectLst>
            <a:outerShdw sx="100000" sy="100000" kx="0" ky="0" algn="bl" rotWithShape="0" blurRad="76200" dist="38100" dir="5400000">
              <a:srgbClr val="1E2761">
                <a:alpha val="20000"/>
              </a:srgbClr>
            </a:outerShdw>
          </a:effectLst>
        </p:spPr>
      </p:sp>
      <p:sp>
        <p:nvSpPr>
          <p:cNvPr id="5" name="Text 3"/>
          <p:cNvSpPr txBox="1"/>
          <p:nvPr/>
        </p:nvSpPr>
        <p:spPr>
          <a:xfrm>
            <a:off x="640080" y="2286000"/>
            <a:ext cx="2148840" cy="548640"/>
          </a:xfrm>
          <a:prstGeom prst="rect">
            <a:avLst/>
          </a:prstGeom>
          <a:noFill/>
          <a:ln/>
        </p:spPr>
        <p:txBody>
          <a:bodyPr wrap="square" rtlCol="0" anchor="ctr"/>
          <a:lstStyle/>
          <a:p>
            <a:pPr algn="ctr" indent="0" marL="0">
              <a:lnSpc>
                <a:spcPts val="1500"/>
              </a:lnSpc>
              <a:buNone/>
            </a:pPr>
            <a:r>
              <a:rPr lang="en-US" sz="1400" b="1" dirty="0">
                <a:solidFill>
                  <a:srgbClr val="FFFFFF"/>
                </a:solidFill>
                <a:latin typeface="Calibri" pitchFamily="34" charset="0"/>
                <a:ea typeface="Calibri" pitchFamily="34" charset="-122"/>
                <a:cs typeface="Calibri" pitchFamily="34" charset="-120"/>
              </a:rPr>
              <a:t>Usuario</a:t>
            </a:r>
            <a:endParaRPr lang="en-US" sz="1400" dirty="0"/>
          </a:p>
        </p:txBody>
      </p:sp>
      <p:sp>
        <p:nvSpPr>
          <p:cNvPr id="6" name="Text 4"/>
          <p:cNvSpPr txBox="1"/>
          <p:nvPr/>
        </p:nvSpPr>
        <p:spPr>
          <a:xfrm>
            <a:off x="640080" y="2834640"/>
            <a:ext cx="2148840" cy="640080"/>
          </a:xfrm>
          <a:prstGeom prst="rect">
            <a:avLst/>
          </a:prstGeom>
          <a:noFill/>
          <a:ln/>
        </p:spPr>
        <p:txBody>
          <a:bodyPr wrap="square" rtlCol="0" anchor="ctr"/>
          <a:lstStyle/>
          <a:p>
            <a:pPr algn="ctr" indent="0" marL="0">
              <a:lnSpc>
                <a:spcPts val="1300"/>
              </a:lnSpc>
              <a:buNone/>
            </a:pPr>
            <a:r>
              <a:rPr lang="en-US" sz="1100" dirty="0">
                <a:solidFill>
                  <a:srgbClr val="CADCFC"/>
                </a:solidFill>
                <a:latin typeface="Calibri" pitchFamily="34" charset="0"/>
                <a:ea typeface="Calibri" pitchFamily="34" charset="-122"/>
                <a:cs typeface="Calibri" pitchFamily="34" charset="-120"/>
              </a:rPr>
              <a:t>Chat web / WhatsApp</a:t>
            </a:r>
            <a:endParaRPr lang="en-US" sz="1100" dirty="0"/>
          </a:p>
        </p:txBody>
      </p:sp>
      <p:sp>
        <p:nvSpPr>
          <p:cNvPr id="7" name="Shape 5"/>
          <p:cNvSpPr/>
          <p:nvPr/>
        </p:nvSpPr>
        <p:spPr>
          <a:xfrm>
            <a:off x="2880360" y="2743200"/>
            <a:ext cx="478536" cy="320040"/>
          </a:xfrm>
          <a:prstGeom prst="rightArrow">
            <a:avLst/>
          </a:prstGeom>
          <a:solidFill>
            <a:srgbClr val="CADCFC"/>
          </a:solidFill>
          <a:ln/>
        </p:spPr>
      </p:sp>
      <p:sp>
        <p:nvSpPr>
          <p:cNvPr id="8" name="Shape 6"/>
          <p:cNvSpPr/>
          <p:nvPr/>
        </p:nvSpPr>
        <p:spPr>
          <a:xfrm>
            <a:off x="3468624" y="2194560"/>
            <a:ext cx="2331720" cy="1371600"/>
          </a:xfrm>
          <a:prstGeom prst="roundRect">
            <a:avLst>
              <a:gd name="adj" fmla="val 8000"/>
            </a:avLst>
          </a:prstGeom>
          <a:solidFill>
            <a:srgbClr val="1E2761"/>
          </a:solidFill>
          <a:ln/>
          <a:effectLst>
            <a:outerShdw sx="100000" sy="100000" kx="0" ky="0" algn="bl" rotWithShape="0" blurRad="76200" dist="38100" dir="5400000">
              <a:srgbClr val="1E2761">
                <a:alpha val="20000"/>
              </a:srgbClr>
            </a:outerShdw>
          </a:effectLst>
        </p:spPr>
      </p:sp>
      <p:sp>
        <p:nvSpPr>
          <p:cNvPr id="9" name="Text 7"/>
          <p:cNvSpPr txBox="1"/>
          <p:nvPr/>
        </p:nvSpPr>
        <p:spPr>
          <a:xfrm>
            <a:off x="3560064" y="2286000"/>
            <a:ext cx="2148840" cy="548640"/>
          </a:xfrm>
          <a:prstGeom prst="rect">
            <a:avLst/>
          </a:prstGeom>
          <a:noFill/>
          <a:ln/>
        </p:spPr>
        <p:txBody>
          <a:bodyPr wrap="square" rtlCol="0" anchor="ctr"/>
          <a:lstStyle/>
          <a:p>
            <a:pPr algn="ctr" indent="0" marL="0">
              <a:lnSpc>
                <a:spcPts val="1500"/>
              </a:lnSpc>
              <a:buNone/>
            </a:pPr>
            <a:r>
              <a:rPr lang="en-US" sz="1400" b="1" dirty="0">
                <a:solidFill>
                  <a:srgbClr val="FFFFFF"/>
                </a:solidFill>
                <a:latin typeface="Calibri" pitchFamily="34" charset="0"/>
                <a:ea typeface="Calibri" pitchFamily="34" charset="-122"/>
                <a:cs typeface="Calibri" pitchFamily="34" charset="-120"/>
              </a:rPr>
              <a:t>Plataforma</a:t>
            </a:r>
            <a:endParaRPr lang="en-US" sz="1400" dirty="0"/>
          </a:p>
          <a:p>
            <a:pPr algn="ctr" indent="0" marL="0">
              <a:lnSpc>
                <a:spcPts val="1500"/>
              </a:lnSpc>
              <a:buNone/>
            </a:pPr>
            <a:r>
              <a:rPr lang="en-US" sz="1400" b="1" dirty="0">
                <a:solidFill>
                  <a:srgbClr val="FFFFFF"/>
                </a:solidFill>
                <a:latin typeface="Calibri" pitchFamily="34" charset="0"/>
                <a:ea typeface="Calibri" pitchFamily="34" charset="-122"/>
                <a:cs typeface="Calibri" pitchFamily="34" charset="-120"/>
              </a:rPr>
              <a:t>conversacional</a:t>
            </a:r>
            <a:endParaRPr lang="en-US" sz="1400" dirty="0"/>
          </a:p>
        </p:txBody>
      </p:sp>
      <p:sp>
        <p:nvSpPr>
          <p:cNvPr id="10" name="Text 8"/>
          <p:cNvSpPr txBox="1"/>
          <p:nvPr/>
        </p:nvSpPr>
        <p:spPr>
          <a:xfrm>
            <a:off x="3560064" y="2834640"/>
            <a:ext cx="2148840" cy="640080"/>
          </a:xfrm>
          <a:prstGeom prst="rect">
            <a:avLst/>
          </a:prstGeom>
          <a:noFill/>
          <a:ln/>
        </p:spPr>
        <p:txBody>
          <a:bodyPr wrap="square" rtlCol="0" anchor="ctr"/>
          <a:lstStyle/>
          <a:p>
            <a:pPr algn="ctr" indent="0" marL="0">
              <a:lnSpc>
                <a:spcPts val="1300"/>
              </a:lnSpc>
              <a:buNone/>
            </a:pPr>
            <a:r>
              <a:rPr lang="en-US" sz="1100" dirty="0">
                <a:solidFill>
                  <a:srgbClr val="CADCFC"/>
                </a:solidFill>
                <a:latin typeface="Calibri" pitchFamily="34" charset="0"/>
                <a:ea typeface="Calibri" pitchFamily="34" charset="-122"/>
                <a:cs typeface="Calibri" pitchFamily="34" charset="-120"/>
              </a:rPr>
              <a:t>Voiceflow / Typebot</a:t>
            </a:r>
            <a:endParaRPr lang="en-US" sz="1100" dirty="0"/>
          </a:p>
        </p:txBody>
      </p:sp>
      <p:sp>
        <p:nvSpPr>
          <p:cNvPr id="11" name="Shape 9"/>
          <p:cNvSpPr/>
          <p:nvPr/>
        </p:nvSpPr>
        <p:spPr>
          <a:xfrm>
            <a:off x="5800344" y="2743200"/>
            <a:ext cx="478536" cy="320040"/>
          </a:xfrm>
          <a:prstGeom prst="rightArrow">
            <a:avLst/>
          </a:prstGeom>
          <a:solidFill>
            <a:srgbClr val="CADCFC"/>
          </a:solidFill>
          <a:ln/>
        </p:spPr>
      </p:sp>
      <p:sp>
        <p:nvSpPr>
          <p:cNvPr id="12" name="Shape 10"/>
          <p:cNvSpPr/>
          <p:nvPr/>
        </p:nvSpPr>
        <p:spPr>
          <a:xfrm>
            <a:off x="6388608" y="2194560"/>
            <a:ext cx="2331720" cy="1371600"/>
          </a:xfrm>
          <a:prstGeom prst="roundRect">
            <a:avLst>
              <a:gd name="adj" fmla="val 8000"/>
            </a:avLst>
          </a:prstGeom>
          <a:solidFill>
            <a:srgbClr val="D9A441"/>
          </a:solidFill>
          <a:ln/>
          <a:effectLst>
            <a:outerShdw sx="100000" sy="100000" kx="0" ky="0" algn="bl" rotWithShape="0" blurRad="76200" dist="38100" dir="5400000">
              <a:srgbClr val="1E2761">
                <a:alpha val="20000"/>
              </a:srgbClr>
            </a:outerShdw>
          </a:effectLst>
        </p:spPr>
      </p:sp>
      <p:sp>
        <p:nvSpPr>
          <p:cNvPr id="13" name="Text 11"/>
          <p:cNvSpPr txBox="1"/>
          <p:nvPr/>
        </p:nvSpPr>
        <p:spPr>
          <a:xfrm>
            <a:off x="6480048" y="2286000"/>
            <a:ext cx="2148840" cy="548640"/>
          </a:xfrm>
          <a:prstGeom prst="rect">
            <a:avLst/>
          </a:prstGeom>
          <a:noFill/>
          <a:ln/>
        </p:spPr>
        <p:txBody>
          <a:bodyPr wrap="square" rtlCol="0" anchor="ctr"/>
          <a:lstStyle/>
          <a:p>
            <a:pPr algn="ctr" indent="0" marL="0">
              <a:lnSpc>
                <a:spcPts val="1500"/>
              </a:lnSpc>
              <a:buNone/>
            </a:pPr>
            <a:r>
              <a:rPr lang="en-US" sz="1400" b="1" dirty="0">
                <a:solidFill>
                  <a:srgbClr val="FFFFFF"/>
                </a:solidFill>
                <a:latin typeface="Calibri" pitchFamily="34" charset="0"/>
                <a:ea typeface="Calibri" pitchFamily="34" charset="-122"/>
                <a:cs typeface="Calibri" pitchFamily="34" charset="-120"/>
              </a:rPr>
              <a:t>n8n</a:t>
            </a:r>
            <a:endParaRPr lang="en-US" sz="1400" dirty="0"/>
          </a:p>
        </p:txBody>
      </p:sp>
      <p:sp>
        <p:nvSpPr>
          <p:cNvPr id="14" name="Text 12"/>
          <p:cNvSpPr txBox="1"/>
          <p:nvPr/>
        </p:nvSpPr>
        <p:spPr>
          <a:xfrm>
            <a:off x="6480048" y="2834640"/>
            <a:ext cx="2148840" cy="640080"/>
          </a:xfrm>
          <a:prstGeom prst="rect">
            <a:avLst/>
          </a:prstGeom>
          <a:noFill/>
          <a:ln/>
        </p:spPr>
        <p:txBody>
          <a:bodyPr wrap="square" rtlCol="0" anchor="ctr"/>
          <a:lstStyle/>
          <a:p>
            <a:pPr algn="ctr" indent="0" marL="0">
              <a:lnSpc>
                <a:spcPts val="1300"/>
              </a:lnSpc>
              <a:buNone/>
            </a:pPr>
            <a:r>
              <a:rPr lang="en-US" sz="1100" dirty="0">
                <a:solidFill>
                  <a:srgbClr val="141B4D"/>
                </a:solidFill>
                <a:latin typeface="Calibri" pitchFamily="34" charset="0"/>
                <a:ea typeface="Calibri" pitchFamily="34" charset="-122"/>
                <a:cs typeface="Calibri" pitchFamily="34" charset="-120"/>
              </a:rPr>
              <a:t>Webhook + validación</a:t>
            </a:r>
            <a:endParaRPr lang="en-US" sz="1100" dirty="0"/>
          </a:p>
        </p:txBody>
      </p:sp>
      <p:sp>
        <p:nvSpPr>
          <p:cNvPr id="15" name="Shape 13"/>
          <p:cNvSpPr/>
          <p:nvPr/>
        </p:nvSpPr>
        <p:spPr>
          <a:xfrm>
            <a:off x="8720328" y="2743200"/>
            <a:ext cx="478536" cy="320040"/>
          </a:xfrm>
          <a:prstGeom prst="rightArrow">
            <a:avLst/>
          </a:prstGeom>
          <a:solidFill>
            <a:srgbClr val="CADCFC"/>
          </a:solidFill>
          <a:ln/>
        </p:spPr>
      </p:sp>
      <p:sp>
        <p:nvSpPr>
          <p:cNvPr id="16" name="Shape 14"/>
          <p:cNvSpPr/>
          <p:nvPr/>
        </p:nvSpPr>
        <p:spPr>
          <a:xfrm>
            <a:off x="9308592" y="2194560"/>
            <a:ext cx="2331720" cy="1371600"/>
          </a:xfrm>
          <a:prstGeom prst="roundRect">
            <a:avLst>
              <a:gd name="adj" fmla="val 8000"/>
            </a:avLst>
          </a:prstGeom>
          <a:solidFill>
            <a:srgbClr val="1E2761"/>
          </a:solidFill>
          <a:ln/>
          <a:effectLst>
            <a:outerShdw sx="100000" sy="100000" kx="0" ky="0" algn="bl" rotWithShape="0" blurRad="76200" dist="38100" dir="5400000">
              <a:srgbClr val="1E2761">
                <a:alpha val="20000"/>
              </a:srgbClr>
            </a:outerShdw>
          </a:effectLst>
        </p:spPr>
      </p:sp>
      <p:sp>
        <p:nvSpPr>
          <p:cNvPr id="17" name="Text 15"/>
          <p:cNvSpPr txBox="1"/>
          <p:nvPr/>
        </p:nvSpPr>
        <p:spPr>
          <a:xfrm>
            <a:off x="9400032" y="2286000"/>
            <a:ext cx="2148840" cy="548640"/>
          </a:xfrm>
          <a:prstGeom prst="rect">
            <a:avLst/>
          </a:prstGeom>
          <a:noFill/>
          <a:ln/>
        </p:spPr>
        <p:txBody>
          <a:bodyPr wrap="square" rtlCol="0" anchor="ctr"/>
          <a:lstStyle/>
          <a:p>
            <a:pPr algn="ctr" indent="0" marL="0">
              <a:lnSpc>
                <a:spcPts val="1500"/>
              </a:lnSpc>
              <a:buNone/>
            </a:pPr>
            <a:r>
              <a:rPr lang="en-US" sz="1400" b="1" dirty="0">
                <a:solidFill>
                  <a:srgbClr val="FFFFFF"/>
                </a:solidFill>
                <a:latin typeface="Calibri" pitchFamily="34" charset="0"/>
                <a:ea typeface="Calibri" pitchFamily="34" charset="-122"/>
                <a:cs typeface="Calibri" pitchFamily="34" charset="-120"/>
              </a:rPr>
              <a:t>Supabase</a:t>
            </a:r>
            <a:endParaRPr lang="en-US" sz="1400" dirty="0"/>
          </a:p>
        </p:txBody>
      </p:sp>
      <p:sp>
        <p:nvSpPr>
          <p:cNvPr id="18" name="Text 16"/>
          <p:cNvSpPr txBox="1"/>
          <p:nvPr/>
        </p:nvSpPr>
        <p:spPr>
          <a:xfrm>
            <a:off x="9400032" y="2834640"/>
            <a:ext cx="2148840" cy="640080"/>
          </a:xfrm>
          <a:prstGeom prst="rect">
            <a:avLst/>
          </a:prstGeom>
          <a:noFill/>
          <a:ln/>
        </p:spPr>
        <p:txBody>
          <a:bodyPr wrap="square" rtlCol="0" anchor="ctr"/>
          <a:lstStyle/>
          <a:p>
            <a:pPr algn="ctr" indent="0" marL="0">
              <a:lnSpc>
                <a:spcPts val="1300"/>
              </a:lnSpc>
              <a:buNone/>
            </a:pPr>
            <a:r>
              <a:rPr lang="en-US" sz="1100" dirty="0">
                <a:solidFill>
                  <a:srgbClr val="CADCFC"/>
                </a:solidFill>
                <a:latin typeface="Calibri" pitchFamily="34" charset="0"/>
                <a:ea typeface="Calibri" pitchFamily="34" charset="-122"/>
                <a:cs typeface="Calibri" pitchFamily="34" charset="-120"/>
              </a:rPr>
              <a:t>PostgreSQL en tiempo real</a:t>
            </a:r>
            <a:endParaRPr lang="en-US" sz="1100" dirty="0"/>
          </a:p>
        </p:txBody>
      </p:sp>
      <p:sp>
        <p:nvSpPr>
          <p:cNvPr id="19" name="Shape 17"/>
          <p:cNvSpPr/>
          <p:nvPr/>
        </p:nvSpPr>
        <p:spPr>
          <a:xfrm>
            <a:off x="2926080" y="3977640"/>
            <a:ext cx="6126480" cy="822960"/>
          </a:xfrm>
          <a:prstGeom prst="roundRect">
            <a:avLst>
              <a:gd name="adj" fmla="val 11111"/>
            </a:avLst>
          </a:prstGeom>
          <a:solidFill>
            <a:srgbClr val="FFFFFF"/>
          </a:solidFill>
          <a:ln w="12700">
            <a:solidFill>
              <a:srgbClr val="CADCFC"/>
            </a:solidFill>
            <a:prstDash val="solid"/>
          </a:ln>
        </p:spPr>
      </p:sp>
      <p:sp>
        <p:nvSpPr>
          <p:cNvPr id="20" name="Text 18"/>
          <p:cNvSpPr txBox="1"/>
          <p:nvPr/>
        </p:nvSpPr>
        <p:spPr>
          <a:xfrm>
            <a:off x="3108960" y="3977640"/>
            <a:ext cx="5760720" cy="822960"/>
          </a:xfrm>
          <a:prstGeom prst="rect">
            <a:avLst/>
          </a:prstGeom>
          <a:noFill/>
          <a:ln/>
        </p:spPr>
        <p:txBody>
          <a:bodyPr wrap="square" rtlCol="0" anchor="ctr"/>
          <a:lstStyle/>
          <a:p>
            <a:pPr algn="ctr" indent="0" marL="0">
              <a:buNone/>
            </a:pPr>
            <a:r>
              <a:rPr lang="en-US" sz="1250" dirty="0">
                <a:solidFill>
                  <a:srgbClr val="5B6685"/>
                </a:solidFill>
                <a:latin typeface="Calibri" pitchFamily="34" charset="0"/>
                <a:ea typeface="Calibri" pitchFamily="34" charset="-122"/>
                <a:cs typeface="Calibri" pitchFamily="34" charset="-120"/>
              </a:rPr>
              <a:t>Notificación inmediata al asesor (email / Slack) ante incidencias críticas</a:t>
            </a:r>
            <a:endParaRPr lang="en-US" sz="1250" dirty="0"/>
          </a:p>
        </p:txBody>
      </p:sp>
      <p:sp>
        <p:nvSpPr>
          <p:cNvPr id="21" name="Text 19"/>
          <p:cNvSpPr txBox="1"/>
          <p:nvPr/>
        </p:nvSpPr>
        <p:spPr>
          <a:xfrm>
            <a:off x="548640" y="5120640"/>
            <a:ext cx="11091672" cy="457200"/>
          </a:xfrm>
          <a:prstGeom prst="rect">
            <a:avLst/>
          </a:prstGeom>
          <a:noFill/>
          <a:ln/>
        </p:spPr>
        <p:txBody>
          <a:bodyPr wrap="square" rtlCol="0" anchor="ctr"/>
          <a:lstStyle/>
          <a:p>
            <a:pPr indent="0" marL="0">
              <a:buNone/>
            </a:pPr>
            <a:r>
              <a:rPr lang="en-US" sz="1200" b="1" dirty="0">
                <a:solidFill>
                  <a:srgbClr val="1E2761"/>
                </a:solidFill>
              </a:rPr>
              <a:t>Payload de ejemplo (crear_ticket):  </a:t>
            </a:r>
            <a:pPr indent="0" marL="0">
              <a:buNone/>
            </a:pPr>
            <a:r>
              <a:rPr lang="en-US" sz="1200" dirty="0">
                <a:solidFill>
                  <a:srgbClr val="5B6685"/>
                </a:solidFill>
                <a:latin typeface="Courier New" pitchFamily="34" charset="0"/>
                <a:ea typeface="Courier New" pitchFamily="34" charset="-122"/>
                <a:cs typeface="Courier New" pitchFamily="34" charset="-120"/>
              </a:rPr>
              <a:t>{ "evento": "crear_ticket", "motivo_consulta": "orden_no_ejecutada", "idempotency_key": "..." }</a:t>
            </a:r>
            <a:endParaRPr lang="en-US" sz="1200" dirty="0"/>
          </a:p>
        </p:txBody>
      </p:sp>
      <p:sp>
        <p:nvSpPr>
          <p:cNvPr id="22" name="Text 20"/>
          <p:cNvSpPr txBox="1"/>
          <p:nvPr/>
        </p:nvSpPr>
        <p:spPr>
          <a:xfrm>
            <a:off x="548640" y="5623560"/>
            <a:ext cx="11091672" cy="548640"/>
          </a:xfrm>
          <a:prstGeom prst="rect">
            <a:avLst/>
          </a:prstGeom>
          <a:noFill/>
          <a:ln/>
        </p:spPr>
        <p:txBody>
          <a:bodyPr wrap="square" rtlCol="0" anchor="ctr"/>
          <a:lstStyle/>
          <a:p>
            <a:pPr indent="0" marL="0">
              <a:buNone/>
            </a:pPr>
            <a:r>
              <a:rPr lang="en-US" sz="1250" i="1" dirty="0">
                <a:solidFill>
                  <a:srgbClr val="5B6685"/>
                </a:solidFill>
                <a:latin typeface="Calibri" pitchFamily="34" charset="0"/>
                <a:ea typeface="Calibri" pitchFamily="34" charset="-122"/>
                <a:cs typeface="Calibri" pitchFamily="34" charset="-120"/>
              </a:rPr>
              <a:t>Manejo de errores: si el INSERT falla, n8n responde estado=error_sistema y el bot ofrece reintentar o escalar a un asesor — nunca se pierde la solicitud.</a:t>
            </a:r>
            <a:endParaRPr lang="en-US" sz="1250" dirty="0"/>
          </a:p>
        </p:txBody>
      </p:sp>
      <p:sp>
        <p:nvSpPr>
          <p:cNvPr id="23"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FASE 3 · ROBUSTEZ</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Seguridad, pruebas y despliegue</a:t>
            </a:r>
            <a:endParaRPr lang="en-US" sz="3200" dirty="0"/>
          </a:p>
        </p:txBody>
      </p:sp>
      <p:sp>
        <p:nvSpPr>
          <p:cNvPr id="4" name="Shape 2"/>
          <p:cNvSpPr/>
          <p:nvPr/>
        </p:nvSpPr>
        <p:spPr>
          <a:xfrm>
            <a:off x="548640" y="1874520"/>
            <a:ext cx="3520440" cy="3566160"/>
          </a:xfrm>
          <a:prstGeom prst="roundRect">
            <a:avLst>
              <a:gd name="adj" fmla="val 3117"/>
            </a:avLst>
          </a:prstGeom>
          <a:solidFill>
            <a:srgbClr val="FFFFFF"/>
          </a:solidFill>
          <a:ln w="12700">
            <a:solidFill>
              <a:srgbClr val="CADCFC"/>
            </a:solidFill>
            <a:prstDash val="solid"/>
          </a:ln>
        </p:spPr>
      </p:sp>
      <p:sp>
        <p:nvSpPr>
          <p:cNvPr id="5" name="Shape 3"/>
          <p:cNvSpPr/>
          <p:nvPr/>
        </p:nvSpPr>
        <p:spPr>
          <a:xfrm>
            <a:off x="822960" y="2148840"/>
            <a:ext cx="457200" cy="457200"/>
          </a:xfrm>
          <a:prstGeom prst="roundRect">
            <a:avLst>
              <a:gd name="adj" fmla="val 50000"/>
            </a:avLst>
          </a:prstGeom>
          <a:solidFill>
            <a:srgbClr val="1E2761"/>
          </a:solidFill>
          <a:ln/>
        </p:spPr>
      </p:sp>
      <p:sp>
        <p:nvSpPr>
          <p:cNvPr id="6" name="Text 4"/>
          <p:cNvSpPr txBox="1"/>
          <p:nvPr/>
        </p:nvSpPr>
        <p:spPr>
          <a:xfrm>
            <a:off x="822960" y="2743200"/>
            <a:ext cx="2971800" cy="4114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Seguridad</a:t>
            </a:r>
            <a:endParaRPr lang="en-US" sz="1600" dirty="0"/>
          </a:p>
        </p:txBody>
      </p:sp>
      <p:sp>
        <p:nvSpPr>
          <p:cNvPr id="7" name="Text 5"/>
          <p:cNvSpPr txBox="1"/>
          <p:nvPr/>
        </p:nvSpPr>
        <p:spPr>
          <a:xfrm>
            <a:off x="822960" y="3200400"/>
            <a:ext cx="2971800" cy="2011680"/>
          </a:xfrm>
          <a:prstGeom prst="rect">
            <a:avLst/>
          </a:prstGeom>
          <a:noFill/>
          <a:ln/>
        </p:spPr>
        <p:txBody>
          <a:bodyPr wrap="square" rtlCol="0" anchor="ctr"/>
          <a:lstStyle/>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Autenticación cédula + cuenta</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Credenciales como variables de entorno</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Mínimo privilegio en BD</a:t>
            </a:r>
            <a:endParaRPr lang="en-US" sz="1250" dirty="0"/>
          </a:p>
        </p:txBody>
      </p:sp>
      <p:sp>
        <p:nvSpPr>
          <p:cNvPr id="8" name="Shape 6"/>
          <p:cNvSpPr/>
          <p:nvPr/>
        </p:nvSpPr>
        <p:spPr>
          <a:xfrm>
            <a:off x="4343400" y="1874520"/>
            <a:ext cx="3520440" cy="3566160"/>
          </a:xfrm>
          <a:prstGeom prst="roundRect">
            <a:avLst>
              <a:gd name="adj" fmla="val 3117"/>
            </a:avLst>
          </a:prstGeom>
          <a:solidFill>
            <a:srgbClr val="FFFFFF"/>
          </a:solidFill>
          <a:ln w="12700">
            <a:solidFill>
              <a:srgbClr val="CADCFC"/>
            </a:solidFill>
            <a:prstDash val="solid"/>
          </a:ln>
        </p:spPr>
      </p:sp>
      <p:sp>
        <p:nvSpPr>
          <p:cNvPr id="9" name="Shape 7"/>
          <p:cNvSpPr/>
          <p:nvPr/>
        </p:nvSpPr>
        <p:spPr>
          <a:xfrm>
            <a:off x="4617720" y="2148840"/>
            <a:ext cx="457200" cy="457200"/>
          </a:xfrm>
          <a:prstGeom prst="roundRect">
            <a:avLst>
              <a:gd name="adj" fmla="val 50000"/>
            </a:avLst>
          </a:prstGeom>
          <a:solidFill>
            <a:srgbClr val="1E2761"/>
          </a:solidFill>
          <a:ln/>
        </p:spPr>
      </p:sp>
      <p:sp>
        <p:nvSpPr>
          <p:cNvPr id="10" name="Text 8"/>
          <p:cNvSpPr txBox="1"/>
          <p:nvPr/>
        </p:nvSpPr>
        <p:spPr>
          <a:xfrm>
            <a:off x="4617720" y="2743200"/>
            <a:ext cx="2971800" cy="4114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Pruebas</a:t>
            </a:r>
            <a:endParaRPr lang="en-US" sz="1600" dirty="0"/>
          </a:p>
        </p:txBody>
      </p:sp>
      <p:sp>
        <p:nvSpPr>
          <p:cNvPr id="11" name="Text 9"/>
          <p:cNvSpPr txBox="1"/>
          <p:nvPr/>
        </p:nvSpPr>
        <p:spPr>
          <a:xfrm>
            <a:off x="4617720" y="3200400"/>
            <a:ext cx="2971800" cy="2011680"/>
          </a:xfrm>
          <a:prstGeom prst="rect">
            <a:avLst/>
          </a:prstGeom>
          <a:noFill/>
          <a:ln/>
        </p:spPr>
        <p:txBody>
          <a:bodyPr wrap="square" rtlCol="0" anchor="ctr"/>
          <a:lstStyle/>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Flujo feliz autenticado</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Reintento de webhook (idempotencia)</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3 fallos de autenticación → bloqueo</a:t>
            </a:r>
            <a:endParaRPr lang="en-US" sz="1250" dirty="0"/>
          </a:p>
        </p:txBody>
      </p:sp>
      <p:sp>
        <p:nvSpPr>
          <p:cNvPr id="12" name="Shape 10"/>
          <p:cNvSpPr/>
          <p:nvPr/>
        </p:nvSpPr>
        <p:spPr>
          <a:xfrm>
            <a:off x="8138160" y="1874520"/>
            <a:ext cx="3520440" cy="3566160"/>
          </a:xfrm>
          <a:prstGeom prst="roundRect">
            <a:avLst>
              <a:gd name="adj" fmla="val 3117"/>
            </a:avLst>
          </a:prstGeom>
          <a:solidFill>
            <a:srgbClr val="FFFFFF"/>
          </a:solidFill>
          <a:ln w="12700">
            <a:solidFill>
              <a:srgbClr val="CADCFC"/>
            </a:solidFill>
            <a:prstDash val="solid"/>
          </a:ln>
        </p:spPr>
      </p:sp>
      <p:sp>
        <p:nvSpPr>
          <p:cNvPr id="13" name="Shape 11"/>
          <p:cNvSpPr/>
          <p:nvPr/>
        </p:nvSpPr>
        <p:spPr>
          <a:xfrm>
            <a:off x="8412480" y="2148840"/>
            <a:ext cx="457200" cy="457200"/>
          </a:xfrm>
          <a:prstGeom prst="roundRect">
            <a:avLst>
              <a:gd name="adj" fmla="val 50000"/>
            </a:avLst>
          </a:prstGeom>
          <a:solidFill>
            <a:srgbClr val="1E2761"/>
          </a:solidFill>
          <a:ln/>
        </p:spPr>
      </p:sp>
      <p:sp>
        <p:nvSpPr>
          <p:cNvPr id="14" name="Text 12"/>
          <p:cNvSpPr txBox="1"/>
          <p:nvPr/>
        </p:nvSpPr>
        <p:spPr>
          <a:xfrm>
            <a:off x="8412480" y="2743200"/>
            <a:ext cx="2971800" cy="4114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Despliegue</a:t>
            </a:r>
            <a:endParaRPr lang="en-US" sz="1600" dirty="0"/>
          </a:p>
        </p:txBody>
      </p:sp>
      <p:sp>
        <p:nvSpPr>
          <p:cNvPr id="15" name="Text 13"/>
          <p:cNvSpPr txBox="1"/>
          <p:nvPr/>
        </p:nvSpPr>
        <p:spPr>
          <a:xfrm>
            <a:off x="8412480" y="3200400"/>
            <a:ext cx="2971800" cy="2011680"/>
          </a:xfrm>
          <a:prstGeom prst="rect">
            <a:avLst/>
          </a:prstGeom>
          <a:noFill/>
          <a:ln/>
        </p:spPr>
        <p:txBody>
          <a:bodyPr wrap="square" rtlCol="0" anchor="ctr"/>
          <a:lstStyle/>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Voiceflow/Typebot publicado</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n8n en modo producción</a:t>
            </a:r>
            <a:endParaRPr lang="en-US" sz="1250" dirty="0"/>
          </a:p>
          <a:p>
            <a:pPr marL="342900" indent="-342900">
              <a:lnSpc>
                <a:spcPts val="1500"/>
              </a:lnSpc>
              <a:spcAft>
                <a:spcPts val="1000"/>
              </a:spcAft>
              <a:buSzPct val="100000"/>
              <a:buChar char="•"/>
            </a:pPr>
            <a:r>
              <a:rPr lang="en-US" sz="1250" dirty="0">
                <a:solidFill>
                  <a:srgbClr val="5B6685"/>
                </a:solidFill>
                <a:latin typeface="Calibri" pitchFamily="34" charset="0"/>
                <a:ea typeface="Calibri" pitchFamily="34" charset="-122"/>
                <a:cs typeface="Calibri" pitchFamily="34" charset="-120"/>
              </a:rPr>
              <a:t>schema.sql versionado en repo</a:t>
            </a:r>
            <a:endParaRPr lang="en-US" sz="1250" dirty="0"/>
          </a:p>
        </p:txBody>
      </p:sp>
      <p:sp>
        <p:nvSpPr>
          <p:cNvPr id="16" name="Text 1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141B4D"/>
          </a:solidFill>
          <a:ln/>
        </p:spPr>
      </p:sp>
      <p:sp>
        <p:nvSpPr>
          <p:cNvPr id="3" name="Text 1"/>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REFLEXIÓN FINAL</a:t>
            </a:r>
            <a:endParaRPr lang="en-US" sz="1300" dirty="0"/>
          </a:p>
        </p:txBody>
      </p:sp>
      <p:sp>
        <p:nvSpPr>
          <p:cNvPr id="4" name="Text 2"/>
          <p:cNvSpPr/>
          <p:nvPr/>
        </p:nvSpPr>
        <p:spPr>
          <a:xfrm>
            <a:off x="548640" y="1097280"/>
            <a:ext cx="1051560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Trazabilidad automática, confianza real</a:t>
            </a:r>
            <a:endParaRPr lang="en-US" sz="3200" dirty="0"/>
          </a:p>
        </p:txBody>
      </p:sp>
      <p:sp>
        <p:nvSpPr>
          <p:cNvPr id="5" name="Text 3"/>
          <p:cNvSpPr txBox="1"/>
          <p:nvPr/>
        </p:nvSpPr>
        <p:spPr>
          <a:xfrm>
            <a:off x="548640" y="2103120"/>
            <a:ext cx="7863840" cy="1463040"/>
          </a:xfrm>
          <a:prstGeom prst="rect">
            <a:avLst/>
          </a:prstGeom>
          <a:noFill/>
          <a:ln/>
        </p:spPr>
        <p:txBody>
          <a:bodyPr wrap="square" rtlCol="0" anchor="ctr"/>
          <a:lstStyle/>
          <a:p>
            <a:pPr indent="0" marL="0">
              <a:lnSpc>
                <a:spcPts val="2200"/>
              </a:lnSpc>
              <a:buNone/>
            </a:pPr>
            <a:r>
              <a:rPr lang="en-US" sz="1600" dirty="0">
                <a:solidFill>
                  <a:srgbClr val="CADCFC"/>
                </a:solidFill>
                <a:latin typeface="Calibri" pitchFamily="34" charset="0"/>
                <a:ea typeface="Calibri" pitchFamily="34" charset="-122"/>
                <a:cs typeface="Calibri" pitchFamily="34" charset="-120"/>
              </a:rPr>
              <a:t>El mayor reto fue balancear un tono cercano con reglas estrictas: InvBot nunca da asesoría de inversión ni expone datos de otro cliente. El manejo de casos límite (fallback, timeout, idempotencia) resultó tan importante para la confiabilidad del sistema como el flujo principal.</a:t>
            </a:r>
            <a:endParaRPr lang="en-US" sz="1600" dirty="0"/>
          </a:p>
        </p:txBody>
      </p:sp>
      <p:sp>
        <p:nvSpPr>
          <p:cNvPr id="6" name="Shape 4"/>
          <p:cNvSpPr/>
          <p:nvPr/>
        </p:nvSpPr>
        <p:spPr>
          <a:xfrm>
            <a:off x="548640" y="3840480"/>
            <a:ext cx="2926080" cy="0"/>
          </a:xfrm>
          <a:prstGeom prst="line">
            <a:avLst/>
          </a:prstGeom>
          <a:noFill/>
          <a:ln w="25400">
            <a:solidFill>
              <a:srgbClr val="D9A441"/>
            </a:solidFill>
            <a:prstDash val="solid"/>
          </a:ln>
        </p:spPr>
      </p:sp>
      <p:sp>
        <p:nvSpPr>
          <p:cNvPr id="7" name="Text 5"/>
          <p:cNvSpPr/>
          <p:nvPr/>
        </p:nvSpPr>
        <p:spPr>
          <a:xfrm>
            <a:off x="548640" y="4023360"/>
            <a:ext cx="45720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Gracias.</a:t>
            </a:r>
            <a:endParaRPr lang="en-US" sz="2400" dirty="0"/>
          </a:p>
        </p:txBody>
      </p:sp>
      <p:sp>
        <p:nvSpPr>
          <p:cNvPr id="8" name="Text 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6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2026-08-29T19:28:11Z</dcterms:created>
  <dcterms:modified xsi:type="dcterms:W3CDTF">2026-08-29T19:28:11Z</dcterms:modified>
</cp:coreProperties>
</file>